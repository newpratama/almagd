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A2F52"/>
          </a:solidFill>
          <a:ln w="25400">
            <a:solidFill>
              <a:srgbClr val="C5A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C5A869"/>
                </a:solidFill>
                <a:latin typeface="Arial"/>
              </a:defRPr>
            </a:pPr>
            <a:r>
              <a:t>مجمع نيو براتاما الفندقي · بونشاك | ALMAGD Hospitality</a:t>
            </a:r>
          </a:p>
          <a:p>
            <a:pPr algn="ctr">
              <a:defRPr sz="3200" b="1">
                <a:solidFill>
                  <a:srgbClr val="FFFFFF"/>
                </a:solidFill>
                <a:latin typeface="Arial"/>
              </a:defRPr>
            </a:pPr>
            <a:r>
              <a:t>الدليل التشغيلي الشامل لنظام إدارة العمليات الفندقية</a:t>
            </a:r>
          </a:p>
          <a:p>
            <a:pPr algn="ctr">
              <a:defRPr sz="1600">
                <a:solidFill>
                  <a:srgbClr val="CBD5E1"/>
                </a:solidFill>
                <a:latin typeface="Arial"/>
              </a:defRPr>
            </a:pPr>
            <a:r>
              <a:t>شرح عملي ومفصل خطوة بخطوة للسيناريوهات الـ 24 المعتمدة لموظفي الاستقبال والإدارة</a:t>
            </a:r>
          </a:p>
          <a:p>
            <a:br/>
            <a:br/>
            <a:pPr algn="ctr">
              <a:defRPr sz="1300" b="1">
                <a:solidFill>
                  <a:srgbClr val="C5A869"/>
                </a:solidFill>
                <a:latin typeface="Arial"/>
              </a:defRPr>
            </a:pPr>
            <a:r>
              <a:t>نظام إدارة الحجوزات PMS v1.0 | الرابط الحي المعتمد: almagd.pages.dev/admin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0" cy="320040"/>
          </a:xfrm>
          <a:prstGeom prst="roundRect">
            <a:avLst/>
          </a:prstGeom>
          <a:solidFill>
            <a:srgbClr val="FEFAF0"/>
          </a:solidFill>
          <a:ln w="9525">
            <a:solidFill>
              <a:srgbClr val="A38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A3864B"/>
                </a:solidFill>
                <a:latin typeface="Arial"/>
              </a:defRPr>
            </a:pPr>
            <a:r>
              <a:t>ALMAGD PMS · مجمع نيو براتاما الفندقي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E36"/>
                </a:solidFill>
                <a:latin typeface="Arial"/>
              </a:defRPr>
            </a:pPr>
            <a:r>
              <a:t>فهرس السيناريوهات التشغيلية (24 سيناريو موزعة على 6 أقسام)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22860"/>
          </a:xfrm>
          <a:prstGeom prst="rect">
            <a:avLst/>
          </a:prstGeom>
          <a:solidFill>
            <a:srgbClr val="C5A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747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E36"/>
                </a:solidFill>
                <a:latin typeface="Arial"/>
              </a:defRPr>
            </a:pPr>
            <a:r>
              <a:t>1️⃣ دورة الحجز الأساسي</a:t>
            </a:r>
          </a:p>
          <a:p>
            <a:br/>
            <a:pPr>
              <a:defRPr sz="1050">
                <a:solidFill>
                  <a:srgbClr val="475569"/>
                </a:solidFill>
                <a:latin typeface="Arial"/>
              </a:defRPr>
            </a:pPr>
            <a:r>
              <a:t>6 سيناريوهات تشمل: الحجز المباشر، النزلاء السابقين، التسكين، المغادرة، تنبيه الرصيد المتبقي، وطباعة سندات القبض.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645920"/>
            <a:ext cx="34747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78308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E36"/>
                </a:solidFill>
                <a:latin typeface="Arial"/>
              </a:defRPr>
            </a:pPr>
            <a:r>
              <a:t>2️⃣ حجوزات المنصات (OTA)</a:t>
            </a:r>
          </a:p>
          <a:p>
            <a:br/>
            <a:pPr>
              <a:defRPr sz="1050">
                <a:solidFill>
                  <a:srgbClr val="475569"/>
                </a:solidFill>
                <a:latin typeface="Arial"/>
              </a:defRPr>
            </a:pPr>
            <a:r>
              <a:t>4 سيناريوهات تشمل: الحجوزات المدفوعة مسبقاً، جدولة الصرف البنكي، التحصيل عند الوصول، ومراجعة الأسعار.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1645920"/>
            <a:ext cx="34747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92440" y="178308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E36"/>
                </a:solidFill>
                <a:latin typeface="Arial"/>
              </a:defRPr>
            </a:pPr>
            <a:r>
              <a:t>3️⃣ العمليات أثناء الإقامة</a:t>
            </a:r>
          </a:p>
          <a:p>
            <a:br/>
            <a:pPr>
              <a:defRPr sz="1050">
                <a:solidFill>
                  <a:srgbClr val="475569"/>
                </a:solidFill>
                <a:latin typeface="Arial"/>
              </a:defRPr>
            </a:pPr>
            <a:r>
              <a:t>4 سيناريوهات تشمل: تمديد الإقامة، المغادرة المبكرة، نقل الغرف والترقية، وتجزئة السداد نقداً وبنكياً.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749039"/>
            <a:ext cx="34747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886199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E36"/>
                </a:solidFill>
                <a:latin typeface="Arial"/>
              </a:defRPr>
            </a:pPr>
            <a:r>
              <a:t>4️⃣ الإلغاء وعدم الحضور</a:t>
            </a:r>
          </a:p>
          <a:p>
            <a:br/>
            <a:pPr>
              <a:defRPr sz="1050">
                <a:solidFill>
                  <a:srgbClr val="475569"/>
                </a:solidFill>
                <a:latin typeface="Arial"/>
              </a:defRPr>
            </a:pPr>
            <a:r>
              <a:t>4 سيناريوهات تشمل: الإلغاء المجاني، الاسترداد الكامل، اقتطاع غرامة الفندق، ومصادرة العربون لعدم الحضور.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3749039"/>
            <a:ext cx="34747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3886199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E36"/>
                </a:solidFill>
                <a:latin typeface="Arial"/>
              </a:defRPr>
            </a:pPr>
            <a:r>
              <a:t>5️⃣ النظافة والصيانة والمرافق</a:t>
            </a:r>
          </a:p>
          <a:p>
            <a:br/>
            <a:pPr>
              <a:defRPr sz="1050">
                <a:solidFill>
                  <a:srgbClr val="475569"/>
                </a:solidFill>
                <a:latin typeface="Arial"/>
              </a:defRPr>
            </a:pPr>
            <a:r>
              <a:t>4 سيناريوهات تشمل: التحول التلقائي للنظافة، دورة تنظيف الغرف، تفرع الفلل والغرف، وإغلاقات الصيانة.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80" y="3749039"/>
            <a:ext cx="34747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92440" y="3886199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E36"/>
                </a:solidFill>
                <a:latin typeface="Arial"/>
              </a:defRPr>
            </a:pPr>
            <a:r>
              <a:t>6️⃣ الرقابة والتدقيق المالي</a:t>
            </a:r>
          </a:p>
          <a:p>
            <a:br/>
            <a:pPr>
              <a:defRPr sz="1050">
                <a:solidFill>
                  <a:srgbClr val="475569"/>
                </a:solidFill>
                <a:latin typeface="Arial"/>
              </a:defRPr>
            </a:pPr>
            <a:r>
              <a:t>2 سيناريو تشمل: شريط المتأخرات العاجل، إقفال الصندوق اليومي، وتصدير تقرير الإكسل المعتمد للمحاسبة.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852160"/>
            <a:ext cx="10728655" cy="685800"/>
          </a:xfrm>
          <a:prstGeom prst="roundRect">
            <a:avLst/>
          </a:prstGeom>
          <a:solidFill>
            <a:srgbClr val="0F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925312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C5A869"/>
                </a:solidFill>
                <a:latin typeface="Arial"/>
              </a:defRPr>
            </a:pPr>
            <a:r>
              <a:t>💡 قاعدة تشغيلية هامة للاستقبال: تمت برمجة جميع هذه المسارات في النظام لتوفير الحماية المالية والتشغيلية الكاملة للمجمع.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0" cy="320040"/>
          </a:xfrm>
          <a:prstGeom prst="roundRect">
            <a:avLst/>
          </a:prstGeom>
          <a:solidFill>
            <a:srgbClr val="FEFAF0"/>
          </a:solidFill>
          <a:ln w="9525">
            <a:solidFill>
              <a:srgbClr val="A38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A3864B"/>
                </a:solidFill>
                <a:latin typeface="Arial"/>
              </a:defRPr>
            </a:pPr>
            <a:r>
              <a:t>ALMAGD PMS · مجمع نيو براتاما الفندقي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E36"/>
                </a:solidFill>
                <a:latin typeface="Arial"/>
              </a:defRPr>
            </a:pPr>
            <a:r>
              <a:t>مصفوفة الصلاحيات والأدوار (Roles Matrix)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22860"/>
          </a:xfrm>
          <a:prstGeom prst="rect">
            <a:avLst/>
          </a:prstGeom>
          <a:solidFill>
            <a:srgbClr val="C5A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4572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B82F6"/>
                </a:solidFill>
                <a:latin typeface="Arial"/>
              </a:defRPr>
            </a:pPr>
            <a:r>
              <a:t>👤 موظف الاستقبال (Reception Pratama)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✅ إنشاء الحجوزات المباشرة وتسكين النزلاء (Check-In)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✅ تسجيل مغادرة النزيل (Check-Out) وطباعة إيصال القبض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✅ تمديد الإقامة الآمن ونقل الغرف عند الأعطال والترقية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✅ تسجيل الدفعات النقدية والتحويلات المستلمة من النزيل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✅ تحديث دورة نظافة الغرف (تحتاج تنظيف 🧹 ⬅️ جاهزة ✨)</a:t>
            </a:r>
          </a:p>
          <a:p>
            <a:pPr>
              <a:defRPr sz="1100">
                <a:solidFill>
                  <a:srgbClr val="EF4444"/>
                </a:solidFill>
                <a:latin typeface="Arial"/>
              </a:defRPr>
            </a:pPr>
            <a:r>
              <a:t>❌ محجوب: لا يرى إجمالي كاش الصندوق أو التقارير المالية الشهرية</a:t>
            </a:r>
          </a:p>
          <a:p>
            <a:pPr>
              <a:defRPr sz="1100">
                <a:solidFill>
                  <a:srgbClr val="EF4444"/>
                </a:solidFill>
                <a:latin typeface="Arial"/>
              </a:defRPr>
            </a:pPr>
            <a:r>
              <a:t>❌ محجوب: لا يستطيع تعديل أسعار الغرف أو حذف الحجوزات نهائياً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46634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A3864B"/>
                </a:solidFill>
                <a:latin typeface="Arial"/>
              </a:defRPr>
            </a:pPr>
            <a:r>
              <a:t>⭐ مدير الفندق (Manager Pratama)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✅ كافة صلاحيات موظف الاستقبال مضافة إليها صلاحيات الإدارة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✅ الاطلاع على كشف المقبوضات وصندوق الدرج النقدي اليومي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✅ مراجعة واعتماد الحجوزات المستوردة وشريط التدقيق الأصفر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✅ تسعير الفلل والغرف وتعديل الأسعار الافتراضية للوحدات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✅ جدولة إغلاقات الصيانة (Room Blocks) للفلل والمسابح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✅ الاطلاع على تقارير الإشغال ومتوسط سعر الغرفة اليومي (ADR)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✅ تصدير التقارير الرسمية إلى ملفات Excel وحذف الحجوزات الملغاة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852160"/>
            <a:ext cx="10728655" cy="685800"/>
          </a:xfrm>
          <a:prstGeom prst="roundRect">
            <a:avLst/>
          </a:prstGeom>
          <a:solidFill>
            <a:srgbClr val="0F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925312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C5A869"/>
                </a:solidFill>
                <a:latin typeface="Arial"/>
              </a:defRPr>
            </a:pPr>
            <a:r>
              <a:t>💡 قاعدة تشغيلية هامة للاستقبال: صلاحيات الاستقبال مخصصة للعمليات اليومية؛ والمسائل المحاسبية والإلغاءات الكبرى من صلاحية المدير.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0" cy="320040"/>
          </a:xfrm>
          <a:prstGeom prst="roundRect">
            <a:avLst/>
          </a:prstGeom>
          <a:solidFill>
            <a:srgbClr val="FEFAF0"/>
          </a:solidFill>
          <a:ln w="9525">
            <a:solidFill>
              <a:srgbClr val="A38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A3864B"/>
                </a:solidFill>
                <a:latin typeface="Arial"/>
              </a:defRPr>
            </a:pPr>
            <a:r>
              <a:t>ALMAGD PMS · مجمع نيو براتاما الفندقي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E36"/>
                </a:solidFill>
                <a:latin typeface="Arial"/>
              </a:defRPr>
            </a:pPr>
            <a:r>
              <a:t>شاشة «اليوم» — مركز العمليات والتحكم اللحظي (Today Page)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22860"/>
          </a:xfrm>
          <a:prstGeom prst="rect">
            <a:avLst/>
          </a:prstGeom>
          <a:solidFill>
            <a:srgbClr val="C5A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4688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3736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C5A869"/>
                </a:solidFill>
                <a:latin typeface="Arial"/>
              </a:defRPr>
            </a:pPr>
            <a:r>
              <a:t>الإشغال اللحظي (Occupancy)</a:t>
            </a:r>
          </a:p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نسبة الإشغال المئوية</a:t>
            </a:r>
          </a:p>
          <a:p>
            <a:br/>
            <a:pPr>
              <a:defRPr sz="950">
                <a:solidFill>
                  <a:srgbClr val="0F1E36"/>
                </a:solidFill>
                <a:latin typeface="Arial"/>
              </a:defRPr>
            </a:pPr>
            <a:r>
              <a:t>تحسب الغرف المشغولة فعلياً مقسومة على الغرف العاملة وتستثني وحدات الصيانة.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645920"/>
            <a:ext cx="24688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73736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E36"/>
                </a:solidFill>
                <a:latin typeface="Arial"/>
              </a:defRPr>
            </a:pPr>
            <a:r>
              <a:t>وصول اليوم (Arrivals Today)</a:t>
            </a:r>
          </a:p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قائمة القدوم المجدول</a:t>
            </a:r>
          </a:p>
          <a:p>
            <a:br/>
            <a:pPr>
              <a:defRPr sz="950">
                <a:solidFill>
                  <a:srgbClr val="0F1E36"/>
                </a:solidFill>
                <a:latin typeface="Arial"/>
              </a:defRPr>
            </a:pPr>
            <a:r>
              <a:t>توضح مواعيد وصول النزلاء، مصدر الحجز، وحالة النظافة قبل استلام المفتاح.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645920"/>
            <a:ext cx="24688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73736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475569"/>
                </a:solidFill>
                <a:latin typeface="Arial"/>
              </a:defRPr>
            </a:pPr>
            <a:r>
              <a:t>مغادرة اليوم (Departures Today)</a:t>
            </a:r>
          </a:p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قائمة المغادرة</a:t>
            </a:r>
          </a:p>
          <a:p>
            <a:br/>
            <a:pPr>
              <a:defRPr sz="950">
                <a:solidFill>
                  <a:srgbClr val="0F1E36"/>
                </a:solidFill>
                <a:latin typeface="Arial"/>
              </a:defRPr>
            </a:pPr>
            <a:r>
              <a:t>توضح المغادرات المجدولة والمتبقي المالي لضمان تحصيله قبل خروج الضيف.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1645920"/>
            <a:ext cx="24688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0" y="173736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  <a:latin typeface="Arial"/>
              </a:defRPr>
            </a:pPr>
            <a:r>
              <a:t>النزلاء المقيمون (In-House)</a:t>
            </a:r>
          </a:p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قائمة الإشغال الحي</a:t>
            </a:r>
          </a:p>
          <a:p>
            <a:br/>
            <a:pPr>
              <a:defRPr sz="950">
                <a:solidFill>
                  <a:srgbClr val="0F1E36"/>
                </a:solidFill>
                <a:latin typeface="Arial"/>
              </a:defRPr>
            </a:pPr>
            <a:r>
              <a:t>عرض كامل للفلل والغرف الممتلئة مع أرقام هواتف النزلاء وتفاصيل حجوزاتهم.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931920"/>
            <a:ext cx="10728655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069080"/>
            <a:ext cx="10149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E36"/>
                </a:solidFill>
                <a:latin typeface="Arial"/>
              </a:defRPr>
            </a:pPr>
            <a:r>
              <a:t>⚡ الرقابة الفورية في شاشة اليوم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• شريط متابعة النظافة (Housekeeping): إحصائية حية بأعلى الشاشة توضح عدد الغرف الجاهزة ✨، والتي تحت التنظيف 🧼، والتي تنتظر التنظيف 🧹 بنقرة زر واحدة.</a:t>
            </a:r>
          </a:p>
          <a:p>
            <a:pPr>
              <a:defRPr sz="1100">
                <a:solidFill>
                  <a:srgbClr val="EF4444"/>
                </a:solidFill>
                <a:latin typeface="Arial"/>
              </a:defRPr>
            </a:pPr>
            <a:r>
              <a:t>• شريط التنبيهات الحمراء (Overdue Alerts): يظهر أعلى الصفحة فوراً لتنبيه الموظف بأي نزيل تجاوز موعد خروجه أو نزيل لم يحضر لحسم موقفه فوراً.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852160"/>
            <a:ext cx="10728655" cy="685800"/>
          </a:xfrm>
          <a:prstGeom prst="roundRect">
            <a:avLst/>
          </a:prstGeom>
          <a:solidFill>
            <a:srgbClr val="0F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925312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C5A869"/>
                </a:solidFill>
                <a:latin typeface="Arial"/>
              </a:defRPr>
            </a:pPr>
            <a:r>
              <a:t>💡 قاعدة تشغيلية هامة للاستقبال: شاشة اليوم هي الصفحة الرئيسية لموظف الاستقبال؛ تابعها باستمرار طوال فترة الوردية.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0" cy="320040"/>
          </a:xfrm>
          <a:prstGeom prst="roundRect">
            <a:avLst/>
          </a:prstGeom>
          <a:solidFill>
            <a:srgbClr val="FEFAF0"/>
          </a:solidFill>
          <a:ln w="9525">
            <a:solidFill>
              <a:srgbClr val="A38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A3864B"/>
                </a:solidFill>
                <a:latin typeface="Arial"/>
              </a:defRPr>
            </a:pPr>
            <a:r>
              <a:t>1️⃣ دورة الحجز الأساسية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E36"/>
                </a:solidFill>
                <a:latin typeface="Arial"/>
              </a:defRPr>
            </a:pPr>
            <a:r>
              <a:t>الحجز المباشر للنزلاء الجدد (Direct Walk-in)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22860"/>
          </a:xfrm>
          <a:prstGeom prst="rect">
            <a:avLst/>
          </a:prstGeom>
          <a:solidFill>
            <a:srgbClr val="C5A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438912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0233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A3864B"/>
                </a:solidFill>
                <a:latin typeface="Arial"/>
              </a:defRPr>
            </a:pPr>
            <a:r>
              <a:t>السيناريو رقم 1</a:t>
            </a:r>
          </a:p>
          <a:p>
            <a:pPr>
              <a:defRPr sz="1400" b="1">
                <a:solidFill>
                  <a:srgbClr val="0F1E36"/>
                </a:solidFill>
                <a:latin typeface="Arial"/>
              </a:defRPr>
            </a:pPr>
            <a:r>
              <a:t>📌 الحالة الواقعية (Case Study):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ضيف يصل لمكتب الاستقبال بدون حجز مسبق، أو يتواصل عبر الهاتف/الواتساب ويريد الإقامة في فيلا أو غرفة مستقلة.</a:t>
            </a:r>
          </a:p>
          <a:p>
            <a:br/>
            <a:pPr>
              <a:defRPr sz="1300" b="1">
                <a:solidFill>
                  <a:srgbClr val="0F1E36"/>
                </a:solidFill>
                <a:latin typeface="Arial"/>
              </a:defRPr>
            </a:pPr>
            <a:r>
              <a:t>⚙️ الأثر المالي والتشغيلي:</a:t>
            </a:r>
          </a:p>
          <a:p>
            <a:pPr>
              <a:defRPr sz="1050">
                <a:solidFill>
                  <a:srgbClr val="475569"/>
                </a:solidFill>
                <a:latin typeface="Arial"/>
              </a:defRPr>
            </a:pPr>
            <a:r>
              <a:t>يُصدر النظام رمز حجز فوري فريد (مثل B0181)، ويحجز الوحدة فوراً في التقويم مانعاً أي موظف آخر من بيعها في نفس التواريخ.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94960" y="1645920"/>
            <a:ext cx="603504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0" y="1828800"/>
            <a:ext cx="5486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E36"/>
                </a:solidFill>
                <a:latin typeface="Arial"/>
              </a:defRPr>
            </a:pPr>
            <a:r>
              <a:t>🛠️ خطوات التنفيذ في النظام خطوة بخطوة:</a:t>
            </a:r>
          </a:p>
          <a:p>
            <a:br/>
            <a:pPr>
              <a:defRPr sz="1200" b="1">
                <a:solidFill>
                  <a:srgbClr val="3B82F6"/>
                </a:solidFill>
                <a:latin typeface="Arial"/>
              </a:defRPr>
            </a:pPr>
            <a:r>
              <a:t>[1] فتح نموذج الحجز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     من القائمة يضغط الموظف «الحجوزات» ثم «+ حجز جديد» (أو ينقر مباشرة على تاريخ اليوم بالتقويم).</a:t>
            </a:r>
          </a:p>
          <a:p>
            <a:br/>
            <a:pPr>
              <a:defRPr sz="1200" b="1">
                <a:solidFill>
                  <a:srgbClr val="3B82F6"/>
                </a:solidFill>
                <a:latin typeface="Arial"/>
              </a:defRPr>
            </a:pPr>
            <a:r>
              <a:t>[2] إدخال الضيف والتواريخ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     كتابة اسم الضيف ورقم هاتفه، وتحديد تاريخ الوصول والمغادرة وعدد البالغين والأطفال.</a:t>
            </a:r>
          </a:p>
          <a:p>
            <a:br/>
            <a:pPr>
              <a:defRPr sz="1200" b="1">
                <a:solidFill>
                  <a:srgbClr val="3B82F6"/>
                </a:solidFill>
                <a:latin typeface="Arial"/>
              </a:defRPr>
            </a:pPr>
            <a:r>
              <a:t>[3] اختيار الوحدة الشاغرة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     يعرض النظام الوحدات المتاحة فقط في هذه التواريخ ويحجب المشغول تماماً لمنع الحجز المزدوج.</a:t>
            </a:r>
          </a:p>
          <a:p>
            <a:br/>
            <a:pPr>
              <a:defRPr sz="1200" b="1">
                <a:solidFill>
                  <a:srgbClr val="3B82F6"/>
                </a:solidFill>
                <a:latin typeface="Arial"/>
              </a:defRPr>
            </a:pPr>
            <a:r>
              <a:t>[4] تسجيل الدفعة والحفظ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     اختيار مصدر الحجز (Walk-in)، وإدخال العربون أو كامل المبلغ (كاش/تحويل)، ثم ضغط «إنشاء الحجز».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852160"/>
            <a:ext cx="10728655" cy="685800"/>
          </a:xfrm>
          <a:prstGeom prst="roundRect">
            <a:avLst/>
          </a:prstGeom>
          <a:solidFill>
            <a:srgbClr val="0F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925312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C5A869"/>
                </a:solidFill>
                <a:latin typeface="Arial"/>
              </a:defRPr>
            </a:pPr>
            <a:r>
              <a:t>💡 قاعدة تشغيلية هامة للاستقبال: كل حجز يتم حفظه يُقفل الغرفة لحظياً في قاعدة البيانات ولا مجال لحدوث أي تضارب.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0" cy="320040"/>
          </a:xfrm>
          <a:prstGeom prst="roundRect">
            <a:avLst/>
          </a:prstGeom>
          <a:solidFill>
            <a:srgbClr val="FEFAF0"/>
          </a:solidFill>
          <a:ln w="9525">
            <a:solidFill>
              <a:srgbClr val="A38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A3864B"/>
                </a:solidFill>
                <a:latin typeface="Arial"/>
              </a:defRPr>
            </a:pPr>
            <a:r>
              <a:t>1️⃣ دورة الحجز الأساسية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E36"/>
                </a:solidFill>
                <a:latin typeface="Arial"/>
              </a:defRPr>
            </a:pPr>
            <a:r>
              <a:t>حجز النزيل السابق والتعرف على وسام VIP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22860"/>
          </a:xfrm>
          <a:prstGeom prst="rect">
            <a:avLst/>
          </a:prstGeom>
          <a:solidFill>
            <a:srgbClr val="C5A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438912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0233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A3864B"/>
                </a:solidFill>
                <a:latin typeface="Arial"/>
              </a:defRPr>
            </a:pPr>
            <a:r>
              <a:t>السيناريو رقم 2</a:t>
            </a:r>
          </a:p>
          <a:p>
            <a:pPr>
              <a:defRPr sz="1400" b="1">
                <a:solidFill>
                  <a:srgbClr val="0F1E36"/>
                </a:solidFill>
                <a:latin typeface="Arial"/>
              </a:defRPr>
            </a:pPr>
            <a:r>
              <a:t>📌 الحالة الواقعية (Case Study):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نزيل سبق له الإقامة في الفندق عاد للحجز مرة أخرى؛ النظام يحتفظ بسجله الكامل وتفضيلاته لتوفير وقت الاستقبال.</a:t>
            </a:r>
          </a:p>
          <a:p>
            <a:br/>
            <a:pPr>
              <a:defRPr sz="1300" b="1">
                <a:solidFill>
                  <a:srgbClr val="0F1E36"/>
                </a:solidFill>
                <a:latin typeface="Arial"/>
              </a:defRPr>
            </a:pPr>
            <a:r>
              <a:t>⚙️ الأثر المالي والتشغيلي:</a:t>
            </a:r>
          </a:p>
          <a:p>
            <a:pPr>
              <a:defRPr sz="1050">
                <a:solidFill>
                  <a:srgbClr val="475569"/>
                </a:solidFill>
                <a:latin typeface="Arial"/>
              </a:defRPr>
            </a:pPr>
            <a:r>
              <a:t>ربط الحجز بنفس ملف النزيل السابق في قاعدة البيانات لتتبع تاريخ إقاماته وسجل مدفوعاته وولائه للفندق عبر السنوات.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94960" y="1645920"/>
            <a:ext cx="603504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0" y="1828800"/>
            <a:ext cx="5486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E36"/>
                </a:solidFill>
                <a:latin typeface="Arial"/>
              </a:defRPr>
            </a:pPr>
            <a:r>
              <a:t>🛠️ خطوات التنفيذ في النظام خطوة بخطوة:</a:t>
            </a:r>
          </a:p>
          <a:p>
            <a:br/>
            <a:pPr>
              <a:defRPr sz="1200" b="1">
                <a:solidFill>
                  <a:srgbClr val="3B82F6"/>
                </a:solidFill>
                <a:latin typeface="Arial"/>
              </a:defRPr>
            </a:pPr>
            <a:r>
              <a:t>[1] البحث السريع عن الضيف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     في شاشة الحجز الجديد، يبدأ الموظف بكتابة أول حرفين من اسم الضيف أو رقم هاتفه في خانة «الضيف».</a:t>
            </a:r>
          </a:p>
          <a:p>
            <a:br/>
            <a:pPr>
              <a:defRPr sz="1200" b="1">
                <a:solidFill>
                  <a:srgbClr val="3B82F6"/>
                </a:solidFill>
                <a:latin typeface="Arial"/>
              </a:defRPr>
            </a:pPr>
            <a:r>
              <a:t>[2] استدعاء الملف والوسام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     تظهر قائمة بالنزلاء المطابقين فوراً مع إظهار وسام ⭐ VIP للنزلاء المتميزين أو علامة النزيل المعتاد.</a:t>
            </a:r>
          </a:p>
          <a:p>
            <a:br/>
            <a:pPr>
              <a:defRPr sz="1200" b="1">
                <a:solidFill>
                  <a:srgbClr val="3B82F6"/>
                </a:solidFill>
                <a:latin typeface="Arial"/>
              </a:defRPr>
            </a:pPr>
            <a:r>
              <a:t>[3] اختيار الضيف بنقرة واحدة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     بمجرد اختياره، تكتمل بيانات الهاتف والهوية تلقائياً دون الحاجة لإعادة كتابتها مرة أخرى.</a:t>
            </a:r>
          </a:p>
          <a:p>
            <a:br/>
            <a:pPr>
              <a:defRPr sz="1200" b="1">
                <a:solidFill>
                  <a:srgbClr val="3B82F6"/>
                </a:solidFill>
                <a:latin typeface="Arial"/>
              </a:defRPr>
            </a:pPr>
            <a:r>
              <a:t>[4] إتمام تفاصيل الإقامة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     تحديد الوحدة المطلوبة والدفعات كالمعتاد وحفظ الحجز في ثوانٍ معدودة.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852160"/>
            <a:ext cx="10728655" cy="685800"/>
          </a:xfrm>
          <a:prstGeom prst="roundRect">
            <a:avLst/>
          </a:prstGeom>
          <a:solidFill>
            <a:srgbClr val="0F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925312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C5A869"/>
                </a:solidFill>
                <a:latin typeface="Arial"/>
              </a:defRPr>
            </a:pPr>
            <a:r>
              <a:t>💡 قاعدة تشغيلية هامة للاستقبال: النزلاء الحاملون لوسام VIP يستحقون عناية إضافية واستقبالاً مميزاً لتعزيز ولائهم لمجمع نيو براتاما.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0" cy="320040"/>
          </a:xfrm>
          <a:prstGeom prst="roundRect">
            <a:avLst/>
          </a:prstGeom>
          <a:solidFill>
            <a:srgbClr val="FEFAF0"/>
          </a:solidFill>
          <a:ln w="9525">
            <a:solidFill>
              <a:srgbClr val="A38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A3864B"/>
                </a:solidFill>
                <a:latin typeface="Arial"/>
              </a:defRPr>
            </a:pPr>
            <a:r>
              <a:t>1️⃣ دورة الحجز الأساسية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E36"/>
                </a:solidFill>
                <a:latin typeface="Arial"/>
              </a:defRPr>
            </a:pPr>
            <a:r>
              <a:t>دورة تسجيل الوصول (Check-in) وتسجيل المغادرة (Check-out)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22860"/>
          </a:xfrm>
          <a:prstGeom prst="rect">
            <a:avLst/>
          </a:prstGeom>
          <a:solidFill>
            <a:srgbClr val="C5A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438912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0233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A3864B"/>
                </a:solidFill>
                <a:latin typeface="Arial"/>
              </a:defRPr>
            </a:pPr>
            <a:r>
              <a:t>السيناريوهات 3 و 4</a:t>
            </a:r>
          </a:p>
          <a:p>
            <a:pPr>
              <a:defRPr sz="1400" b="1">
                <a:solidFill>
                  <a:srgbClr val="0F1E36"/>
                </a:solidFill>
                <a:latin typeface="Arial"/>
              </a:defRPr>
            </a:pPr>
            <a:r>
              <a:t>📌 الحالة الواقعية (Case Study):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الوصول: نزيل وصل في موعده لاستلام الغرفة. المغادرة: نزيل انتهت إقامته وسدد حسابه ويريد تسليم المفتاح والمغادرة.</a:t>
            </a:r>
          </a:p>
          <a:p>
            <a:br/>
            <a:pPr>
              <a:defRPr sz="1300" b="1">
                <a:solidFill>
                  <a:srgbClr val="0F1E36"/>
                </a:solidFill>
                <a:latin typeface="Arial"/>
              </a:defRPr>
            </a:pPr>
            <a:r>
              <a:t>⚙️ الأثر المالي والتشغيلي:</a:t>
            </a:r>
          </a:p>
          <a:p>
            <a:pPr>
              <a:defRPr sz="1050">
                <a:solidFill>
                  <a:srgbClr val="475569"/>
                </a:solidFill>
                <a:latin typeface="Arial"/>
              </a:defRPr>
            </a:pPr>
            <a:r>
              <a:t>تحديث فوري لنسبة الإشغال اللحظية، وتحرير الوحدة لتنتقل لدورة النظافة وتصبح جاهزة لاستقبال النزيل القادم.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94960" y="1645920"/>
            <a:ext cx="603504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0" y="1828800"/>
            <a:ext cx="5486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E36"/>
                </a:solidFill>
                <a:latin typeface="Arial"/>
              </a:defRPr>
            </a:pPr>
            <a:r>
              <a:t>🛠️ خطوات التنفيذ في النظام خطوة بخطوة:</a:t>
            </a:r>
          </a:p>
          <a:p>
            <a:br/>
            <a:pPr>
              <a:defRPr sz="1200" b="1">
                <a:solidFill>
                  <a:srgbClr val="3B82F6"/>
                </a:solidFill>
                <a:latin typeface="Arial"/>
              </a:defRPr>
            </a:pPr>
            <a:r>
              <a:t>[1] التأكد من نظافة الغرفة أولاً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     في شاشة «اليوم»، يتأكد الموظف من بادج النظافة بجانب اسم الوحدة (يجب أن تكون ✨ جاهزة ونظيفة).</a:t>
            </a:r>
          </a:p>
          <a:p>
            <a:br/>
            <a:pPr>
              <a:defRPr sz="1200" b="1">
                <a:solidFill>
                  <a:srgbClr val="3B82F6"/>
                </a:solidFill>
                <a:latin typeface="Arial"/>
              </a:defRPr>
            </a:pPr>
            <a:r>
              <a:t>[2] تسجيل الوصول (Check-in)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     ضغط زر «الوصول»؛ تتحول حالة الحجز فوراً إلى «مقيم (Checked In)» وينتقل لجدول النزلاء المقيمين اليوم.</a:t>
            </a:r>
          </a:p>
          <a:p>
            <a:br/>
            <a:pPr>
              <a:defRPr sz="1200" b="1">
                <a:solidFill>
                  <a:srgbClr val="3B82F6"/>
                </a:solidFill>
                <a:latin typeface="Arial"/>
              </a:defRPr>
            </a:pPr>
            <a:r>
              <a:t>[3] فحص الرصيد قبل المغادرة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     عند المغادرة، يتأكد الموظف من أن الرصيد المتبقي = 0 (يظهر باللون الأخضر ✓ خالص).</a:t>
            </a:r>
          </a:p>
          <a:p>
            <a:br/>
            <a:pPr>
              <a:defRPr sz="1200" b="1">
                <a:solidFill>
                  <a:srgbClr val="3B82F6"/>
                </a:solidFill>
                <a:latin typeface="Arial"/>
              </a:defRPr>
            </a:pPr>
            <a:r>
              <a:t>[4] تسجيل المغادرة (Check-out)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     ضغط زر «المغادرة» بنقرة واحدة؛ تتحول الحالة إلى «غادر» وتتحول حالة الغرفة فوراً إلى 🧹 تحتاج تنظيف.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852160"/>
            <a:ext cx="10728655" cy="685800"/>
          </a:xfrm>
          <a:prstGeom prst="roundRect">
            <a:avLst/>
          </a:prstGeom>
          <a:solidFill>
            <a:srgbClr val="0F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925312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C5A869"/>
                </a:solidFill>
                <a:latin typeface="Arial"/>
              </a:defRPr>
            </a:pPr>
            <a:r>
              <a:t>💡 قاعدة تشغيلية هامة للاستقبال: لا تسلم المفتاح للنزيل إطلاقاً إلا إذا كان بادج نظافة الغرفة يظهر ✨ جاهزة ونظيفة.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0" cy="320040"/>
          </a:xfrm>
          <a:prstGeom prst="roundRect">
            <a:avLst/>
          </a:prstGeom>
          <a:solidFill>
            <a:srgbClr val="FEFAF0"/>
          </a:solidFill>
          <a:ln w="9525">
            <a:solidFill>
              <a:srgbClr val="A38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A3864B"/>
                </a:solidFill>
                <a:latin typeface="Arial"/>
              </a:defRPr>
            </a:pPr>
            <a:r>
              <a:t>1️⃣ دورة الحجز الأساسية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E36"/>
                </a:solidFill>
                <a:latin typeface="Arial"/>
              </a:defRPr>
            </a:pPr>
            <a:r>
              <a:t>التحذير من المتبقي المالي ومنع خروج النزيل المدين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22860"/>
          </a:xfrm>
          <a:prstGeom prst="rect">
            <a:avLst/>
          </a:prstGeom>
          <a:solidFill>
            <a:srgbClr val="C5A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438912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0233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A3864B"/>
                </a:solidFill>
                <a:latin typeface="Arial"/>
              </a:defRPr>
            </a:pPr>
            <a:r>
              <a:t>السيناريو رقم 5</a:t>
            </a:r>
          </a:p>
          <a:p>
            <a:pPr>
              <a:defRPr sz="1400" b="1">
                <a:solidFill>
                  <a:srgbClr val="0F1E36"/>
                </a:solidFill>
                <a:latin typeface="Arial"/>
              </a:defRPr>
            </a:pPr>
            <a:r>
              <a:t>📌 الحالة الواقعية (Case Study):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نزيل يحاول تسجيل المغادرة وتسليم المفتاح ولا زال في ذمته متبقي مالي لم يسدده (مثال: باقي عليه 450 ألف روبية).</a:t>
            </a:r>
          </a:p>
          <a:p>
            <a:br/>
            <a:pPr>
              <a:defRPr sz="1300" b="1">
                <a:solidFill>
                  <a:srgbClr val="0F1E36"/>
                </a:solidFill>
                <a:latin typeface="Arial"/>
              </a:defRPr>
            </a:pPr>
            <a:r>
              <a:t>⚙️ الأثر المالي والتشغيلي:</a:t>
            </a:r>
          </a:p>
          <a:p>
            <a:pPr>
              <a:defRPr sz="1050">
                <a:solidFill>
                  <a:srgbClr val="475569"/>
                </a:solidFill>
                <a:latin typeface="Arial"/>
              </a:defRPr>
            </a:pPr>
            <a:r>
              <a:t>حماية إيرادات الفندق ومنع تساهل الموظفين أو نسيانهم للمبالغ المعلقة، مع ضمان تصفير الحساب قبل تسليم الأمتعة.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94960" y="1645920"/>
            <a:ext cx="603504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0" y="1828800"/>
            <a:ext cx="5486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E36"/>
                </a:solidFill>
                <a:latin typeface="Arial"/>
              </a:defRPr>
            </a:pPr>
            <a:r>
              <a:t>🛠️ خطوات التنفيذ في النظام خطوة بخطوة:</a:t>
            </a:r>
          </a:p>
          <a:p>
            <a:br/>
            <a:pPr>
              <a:defRPr sz="1200" b="1">
                <a:solidFill>
                  <a:srgbClr val="3B82F6"/>
                </a:solidFill>
                <a:latin typeface="Arial"/>
              </a:defRPr>
            </a:pPr>
            <a:r>
              <a:t>[1] محاولة الضغط على مغادرة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     يضغط الموظف على زر «تسجيل المغادرة» كالمعتاد.</a:t>
            </a:r>
          </a:p>
          <a:p>
            <a:br/>
            <a:pPr>
              <a:defRPr sz="1200" b="1">
                <a:solidFill>
                  <a:srgbClr val="3B82F6"/>
                </a:solidFill>
                <a:latin typeface="Arial"/>
              </a:defRPr>
            </a:pPr>
            <a:r>
              <a:t>[2] ظهور التنبيه التحذيري الأحمر ⚠️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     يعترض النظام العملية ويفتح نافذة تحذيرية حمراء: (⚠️ تنبيه: هذا الحجز عليه متبقي قدره X روبية. هل تود تأكيد المغادرة؟).</a:t>
            </a:r>
          </a:p>
          <a:p>
            <a:br/>
            <a:pPr>
              <a:defRPr sz="1200" b="1">
                <a:solidFill>
                  <a:srgbClr val="3B82F6"/>
                </a:solidFill>
                <a:latin typeface="Arial"/>
              </a:defRPr>
            </a:pPr>
            <a:r>
              <a:t>[3] تحصيل المبلغ من النزيل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     يطلب الموظف من النزيل سداد المبلغ المتبقي نقداً أو عبر التحويل البنكي.</a:t>
            </a:r>
          </a:p>
          <a:p>
            <a:br/>
            <a:pPr>
              <a:defRPr sz="1200" b="1">
                <a:solidFill>
                  <a:srgbClr val="3B82F6"/>
                </a:solidFill>
                <a:latin typeface="Arial"/>
              </a:defRPr>
            </a:pPr>
            <a:r>
              <a:t>[4] تسجيل الدفعة وإتمام الخروج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     يضغط الموظف «إضافة دفعة» ويسجل المبلغ؛ فيصبح الرصيد 0 أخضر، وتتم المغادرة بأمان تام.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852160"/>
            <a:ext cx="10728655" cy="685800"/>
          </a:xfrm>
          <a:prstGeom prst="roundRect">
            <a:avLst/>
          </a:prstGeom>
          <a:solidFill>
            <a:srgbClr val="0F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925312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C5A869"/>
                </a:solidFill>
                <a:latin typeface="Arial"/>
              </a:defRPr>
            </a:pPr>
            <a:r>
              <a:t>💡 قاعدة تشغيلية هامة للاستقبال: تنبيه المتبقي المالي هو صمام أمان الصندوق؛ لا تضغط تأكيد المغادرة أبداً قبل استلام الكاش.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0" cy="320040"/>
          </a:xfrm>
          <a:prstGeom prst="roundRect">
            <a:avLst/>
          </a:prstGeom>
          <a:solidFill>
            <a:srgbClr val="FEFAF0"/>
          </a:solidFill>
          <a:ln w="9525">
            <a:solidFill>
              <a:srgbClr val="A38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A3864B"/>
                </a:solidFill>
                <a:latin typeface="Arial"/>
              </a:defRPr>
            </a:pPr>
            <a:r>
              <a:t>1️⃣ دورة الحجز الأساسية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E36"/>
                </a:solidFill>
                <a:latin typeface="Arial"/>
              </a:defRPr>
            </a:pPr>
            <a:r>
              <a:t>إصدار وطباعة إيصال تأكيد الحجز وسند القبض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22860"/>
          </a:xfrm>
          <a:prstGeom prst="rect">
            <a:avLst/>
          </a:prstGeom>
          <a:solidFill>
            <a:srgbClr val="C5A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438912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0233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A3864B"/>
                </a:solidFill>
                <a:latin typeface="Arial"/>
              </a:defRPr>
            </a:pPr>
            <a:r>
              <a:t>السيناريو رقم 6</a:t>
            </a:r>
          </a:p>
          <a:p>
            <a:pPr>
              <a:defRPr sz="1400" b="1">
                <a:solidFill>
                  <a:srgbClr val="0F1E36"/>
                </a:solidFill>
                <a:latin typeface="Arial"/>
              </a:defRPr>
            </a:pPr>
            <a:r>
              <a:t>📌 الحالة الواقعية (Case Study):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النزيل يطلب إثبات سداد رسمي أو سند قبض معتمد لإرفاقه لشركته أو لحفظ حقوقه المالية.</a:t>
            </a:r>
          </a:p>
          <a:p>
            <a:br/>
            <a:pPr>
              <a:defRPr sz="1300" b="1">
                <a:solidFill>
                  <a:srgbClr val="0F1E36"/>
                </a:solidFill>
                <a:latin typeface="Arial"/>
              </a:defRPr>
            </a:pPr>
            <a:r>
              <a:t>⚙️ الأثر المالي والتشغيلي:</a:t>
            </a:r>
          </a:p>
          <a:p>
            <a:pPr>
              <a:defRPr sz="1050">
                <a:solidFill>
                  <a:srgbClr val="475569"/>
                </a:solidFill>
                <a:latin typeface="Arial"/>
              </a:defRPr>
            </a:pPr>
            <a:r>
              <a:t>سند قانوني ومالي رسمي معتمد للمحاسبة يثبت استلام المبالغ وتفاصيل الليالي وقنوات السداد وتوقيع الاستقبال.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94960" y="1645920"/>
            <a:ext cx="603504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0" y="1828800"/>
            <a:ext cx="5486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E36"/>
                </a:solidFill>
                <a:latin typeface="Arial"/>
              </a:defRPr>
            </a:pPr>
            <a:r>
              <a:t>🛠️ خطوات التنفيذ في النظام خطوة بخطوة:</a:t>
            </a:r>
          </a:p>
          <a:p>
            <a:br/>
            <a:pPr>
              <a:defRPr sz="1200" b="1">
                <a:solidFill>
                  <a:srgbClr val="3B82F6"/>
                </a:solidFill>
                <a:latin typeface="Arial"/>
              </a:defRPr>
            </a:pPr>
            <a:r>
              <a:t>[1] الدخول على تفاصيل الحجز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     فتح صفحة الحجز المطلوبة من جدول الحجوزات أو شاشة اليوم.</a:t>
            </a:r>
          </a:p>
          <a:p>
            <a:br/>
            <a:pPr>
              <a:defRPr sz="1200" b="1">
                <a:solidFill>
                  <a:srgbClr val="3B82F6"/>
                </a:solidFill>
                <a:latin typeface="Arial"/>
              </a:defRPr>
            </a:pPr>
            <a:r>
              <a:t>[2] معاينة السند الرسمي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     ضغط زر «👁️ معاينة الإيصال» لمراجعة التواريخ والدفعات والمتبقي.</a:t>
            </a:r>
          </a:p>
          <a:p>
            <a:br/>
            <a:pPr>
              <a:defRPr sz="1200" b="1">
                <a:solidFill>
                  <a:srgbClr val="3B82F6"/>
                </a:solidFill>
                <a:latin typeface="Arial"/>
              </a:defRPr>
            </a:pPr>
            <a:r>
              <a:t>[3] أمر الطباعة المباشر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     ضغط زر «🖨️ طباعة الإيصال»؛ يفتح النظام نافذة الطباعة الرسمية المجهزة فوراً.</a:t>
            </a:r>
          </a:p>
          <a:p>
            <a:br/>
            <a:pPr>
              <a:defRPr sz="1200" b="1">
                <a:solidFill>
                  <a:srgbClr val="3B82F6"/>
                </a:solidFill>
                <a:latin typeface="Arial"/>
              </a:defRPr>
            </a:pPr>
            <a:r>
              <a:t>[4] الحفظ كـ PDF أو الطباعة الورقية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     تنسيق مبرمج يتجاهل أزرار الشاشة ويطبع فقط السند المروّس باسم مجمع نيو براتاما مع مساحة التوقيع والختم.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852160"/>
            <a:ext cx="10728655" cy="685800"/>
          </a:xfrm>
          <a:prstGeom prst="roundRect">
            <a:avLst/>
          </a:prstGeom>
          <a:solidFill>
            <a:srgbClr val="0F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925312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C5A869"/>
                </a:solidFill>
                <a:latin typeface="Arial"/>
              </a:defRPr>
            </a:pPr>
            <a:r>
              <a:t>💡 قاعدة تشغيلية هامة للاستقبال: يمكنك إرسال السند كملف PDF إلى واتساب النزيل مباشرة باختيار (Save as PDF) من نافذة الطباعة.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0" cy="320040"/>
          </a:xfrm>
          <a:prstGeom prst="roundRect">
            <a:avLst/>
          </a:prstGeom>
          <a:solidFill>
            <a:srgbClr val="FEFAF0"/>
          </a:solidFill>
          <a:ln w="9525">
            <a:solidFill>
              <a:srgbClr val="A38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A3864B"/>
                </a:solidFill>
                <a:latin typeface="Arial"/>
              </a:defRPr>
            </a:pPr>
            <a:r>
              <a:t>2️⃣ حجوزات المنصات (OTA)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E36"/>
                </a:solidFill>
                <a:latin typeface="Arial"/>
              </a:defRPr>
            </a:pPr>
            <a:r>
              <a:t>حجوزات التطبيقات المسددة إلكترونياً (OTA Prepaid)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22860"/>
          </a:xfrm>
          <a:prstGeom prst="rect">
            <a:avLst/>
          </a:prstGeom>
          <a:solidFill>
            <a:srgbClr val="C5A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438912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0233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A3864B"/>
                </a:solidFill>
                <a:latin typeface="Arial"/>
              </a:defRPr>
            </a:pPr>
            <a:r>
              <a:t>السيناريو رقم 7</a:t>
            </a:r>
          </a:p>
          <a:p>
            <a:pPr>
              <a:defRPr sz="1400" b="1">
                <a:solidFill>
                  <a:srgbClr val="0F1E36"/>
                </a:solidFill>
                <a:latin typeface="Arial"/>
              </a:defRPr>
            </a:pPr>
            <a:r>
              <a:t>📌 الحالة الواقعية (Case Study):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حجز قادم عبر منصة Tiket.com أو Booking.com أو Agoda حيث دفع النزيل بالبطاقة مسبقاً على التطبيق.</a:t>
            </a:r>
          </a:p>
          <a:p>
            <a:br/>
            <a:pPr>
              <a:defRPr sz="1300" b="1">
                <a:solidFill>
                  <a:srgbClr val="0F1E36"/>
                </a:solidFill>
                <a:latin typeface="Arial"/>
              </a:defRPr>
            </a:pPr>
            <a:r>
              <a:t>⚙️ الأثر المالي والتشغيلي:</a:t>
            </a:r>
          </a:p>
          <a:p>
            <a:pPr>
              <a:defRPr sz="1050">
                <a:solidFill>
                  <a:srgbClr val="475569"/>
                </a:solidFill>
                <a:latin typeface="Arial"/>
              </a:defRPr>
            </a:pPr>
            <a:r>
              <a:t>النزيل بريء الذمة تجاه الفندق، والمدين الفعلي هو منصة الحجز التي ستحول المبلغ لحساب الفندق البنكي.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94960" y="1645920"/>
            <a:ext cx="603504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0" y="1828800"/>
            <a:ext cx="5486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E36"/>
                </a:solidFill>
                <a:latin typeface="Arial"/>
              </a:defRPr>
            </a:pPr>
            <a:r>
              <a:t>🛠️ خطوات التنفيذ في النظام خطوة بخطوة:</a:t>
            </a:r>
          </a:p>
          <a:p>
            <a:br/>
            <a:pPr>
              <a:defRPr sz="1200" b="1">
                <a:solidFill>
                  <a:srgbClr val="3B82F6"/>
                </a:solidFill>
                <a:latin typeface="Arial"/>
              </a:defRPr>
            </a:pPr>
            <a:r>
              <a:t>[1] التعرف على بادج المنصة الأزرق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     يظهر الحجز في النظام بالبادج الأزرق المميز: «📱 مدفوع بالتطبيق · استحقاق الوصول».</a:t>
            </a:r>
          </a:p>
          <a:p>
            <a:br/>
            <a:pPr>
              <a:defRPr sz="1200" b="1">
                <a:solidFill>
                  <a:srgbClr val="3B82F6"/>
                </a:solidFill>
                <a:latin typeface="Arial"/>
              </a:defRPr>
            </a:pPr>
            <a:r>
              <a:t>[2] التحقق من الرصيد المطلوب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     المتبقي المطلوب تحصيله من النزيل عند الاستقبال هو 0 روبية (خالص تماماً للإقامة).</a:t>
            </a:r>
          </a:p>
          <a:p>
            <a:br/>
            <a:pPr>
              <a:defRPr sz="1200" b="1">
                <a:solidFill>
                  <a:srgbClr val="3B82F6"/>
                </a:solidFill>
                <a:latin typeface="Arial"/>
              </a:defRPr>
            </a:pPr>
            <a:r>
              <a:t>[3] استقبال النزيل دون طلب أموال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     يتم الترحيب بالنزيل وتسجيل وصوله دون مطالبته بأي رسوم إقامة لأنه دفع للمنصة مسبقاً.</a:t>
            </a:r>
          </a:p>
          <a:p>
            <a:br/>
            <a:pPr>
              <a:defRPr sz="1200" b="1">
                <a:solidFill>
                  <a:srgbClr val="3B82F6"/>
                </a:solidFill>
                <a:latin typeface="Arial"/>
              </a:defRPr>
            </a:pPr>
            <a:r>
              <a:t>[4] منع تسجيل كاش وهمي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     يُمنع منعاً باتاً إدخال دفعة نقدية في النظام لهذا الحجز لأن الأموال ستصل عبر الحساب البنكي من المنصة.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852160"/>
            <a:ext cx="10728655" cy="685800"/>
          </a:xfrm>
          <a:prstGeom prst="roundRect">
            <a:avLst/>
          </a:prstGeom>
          <a:solidFill>
            <a:srgbClr val="0F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925312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C5A869"/>
                </a:solidFill>
                <a:latin typeface="Arial"/>
              </a:defRPr>
            </a:pPr>
            <a:r>
              <a:t>💡 قاعدة تشغيلية هامة للاستقبال: القاعدة الذهبية: حجز التطبيق بالبادج الأزرق = لا تطلب كاش من النزيل إطلاقاً.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0" cy="320040"/>
          </a:xfrm>
          <a:prstGeom prst="roundRect">
            <a:avLst/>
          </a:prstGeom>
          <a:solidFill>
            <a:srgbClr val="FEFAF0"/>
          </a:solidFill>
          <a:ln w="9525">
            <a:solidFill>
              <a:srgbClr val="A38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A3864B"/>
                </a:solidFill>
                <a:latin typeface="Arial"/>
              </a:defRPr>
            </a:pPr>
            <a:r>
              <a:t>2️⃣ حجوزات المنصات (OTA)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E36"/>
                </a:solidFill>
                <a:latin typeface="Arial"/>
              </a:defRPr>
            </a:pPr>
            <a:r>
              <a:t>الحجوزات المستقبلية وجدولة التحويلات البنكية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22860"/>
          </a:xfrm>
          <a:prstGeom prst="rect">
            <a:avLst/>
          </a:prstGeom>
          <a:solidFill>
            <a:srgbClr val="C5A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438912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0233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A3864B"/>
                </a:solidFill>
                <a:latin typeface="Arial"/>
              </a:defRPr>
            </a:pPr>
            <a:r>
              <a:t>السيناريو رقم 8</a:t>
            </a:r>
          </a:p>
          <a:p>
            <a:pPr>
              <a:defRPr sz="1400" b="1">
                <a:solidFill>
                  <a:srgbClr val="0F1E36"/>
                </a:solidFill>
                <a:latin typeface="Arial"/>
              </a:defRPr>
            </a:pPr>
            <a:r>
              <a:t>📌 الحالة الواقعية (Case Study):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حجز مؤكد من تطبيق إلكتروني وصل للنظام اليوم، لكن موعد قدوم النزيل الفعلي بعد أسبوع أو أسبوعين.</a:t>
            </a:r>
          </a:p>
          <a:p>
            <a:br/>
            <a:pPr>
              <a:defRPr sz="1300" b="1">
                <a:solidFill>
                  <a:srgbClr val="0F1E36"/>
                </a:solidFill>
                <a:latin typeface="Arial"/>
              </a:defRPr>
            </a:pPr>
            <a:r>
              <a:t>⚙️ الأثر المالي والتشغيلي:</a:t>
            </a:r>
          </a:p>
          <a:p>
            <a:pPr>
              <a:defRPr sz="1050">
                <a:solidFill>
                  <a:srgbClr val="475569"/>
                </a:solidFill>
                <a:latin typeface="Arial"/>
              </a:defRPr>
            </a:pPr>
            <a:r>
              <a:t>إثبات الحجز في التقويم لحماية الغرفة، مع تأجيل إقرار السيولة المالية النقدية لتاريخ وصول النزيل الفعلي.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94960" y="1645920"/>
            <a:ext cx="603504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0" y="1828800"/>
            <a:ext cx="5486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E36"/>
                </a:solidFill>
                <a:latin typeface="Arial"/>
              </a:defRPr>
            </a:pPr>
            <a:r>
              <a:t>🛠️ خطوات التنفيذ في النظام خطوة بخطوة:</a:t>
            </a:r>
          </a:p>
          <a:p>
            <a:br/>
            <a:pPr>
              <a:defRPr sz="1200" b="1">
                <a:solidFill>
                  <a:srgbClr val="3B82F6"/>
                </a:solidFill>
                <a:latin typeface="Arial"/>
              </a:defRPr>
            </a:pPr>
            <a:r>
              <a:t>[1] فهم سياسة تحويلات المنصات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     المنصة (مثل Booking أو Tiket) تحتجز الأموال ولا تحولها لحساب الفندق إلا في تاريخ وصول النزيل.</a:t>
            </a:r>
          </a:p>
          <a:p>
            <a:br/>
            <a:pPr>
              <a:defRPr sz="1200" b="1">
                <a:solidFill>
                  <a:srgbClr val="3B82F6"/>
                </a:solidFill>
                <a:latin typeface="Arial"/>
              </a:defRPr>
            </a:pPr>
            <a:r>
              <a:t>[2] قراءة مؤشر المدة في النظام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     يُظهر النظام الحجز مع توضيح المدة الزمنية المتبقية: (⏳ بعد أسبوعين تقريباً).</a:t>
            </a:r>
          </a:p>
          <a:p>
            <a:br/>
            <a:pPr>
              <a:defRPr sz="1200" b="1">
                <a:solidFill>
                  <a:srgbClr val="3B82F6"/>
                </a:solidFill>
                <a:latin typeface="Arial"/>
              </a:defRPr>
            </a:pPr>
            <a:r>
              <a:t>[3] توضيح طبيعة المبلغ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     يوضح النظام بجانب المبلغ: «استحقاق بنكي عند الوصول» ليعلم المحاسب موعد دخول السيولة.</a:t>
            </a:r>
          </a:p>
          <a:p>
            <a:br/>
            <a:pPr>
              <a:defRPr sz="1200" b="1">
                <a:solidFill>
                  <a:srgbClr val="3B82F6"/>
                </a:solidFill>
                <a:latin typeface="Arial"/>
              </a:defRPr>
            </a:pPr>
            <a:r>
              <a:t>[4] حماية كاش اليومية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     لا يتم إدراج هذا المبلغ في كاش اليوم حتى لا يختل جرد الدرج اليومي لموظف الاستقبال.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852160"/>
            <a:ext cx="10728655" cy="685800"/>
          </a:xfrm>
          <a:prstGeom prst="roundRect">
            <a:avLst/>
          </a:prstGeom>
          <a:solidFill>
            <a:srgbClr val="0F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925312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C5A869"/>
                </a:solidFill>
                <a:latin typeface="Arial"/>
              </a:defRPr>
            </a:pPr>
            <a:r>
              <a:t>💡 قاعدة تشغيلية هامة للاستقبال: الحجوزات المستقبلية تحجز الغرفة فوراً، لكن أموالها تنزل في الحساب البنكي يوم وصول النزيل.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0" cy="320040"/>
          </a:xfrm>
          <a:prstGeom prst="roundRect">
            <a:avLst/>
          </a:prstGeom>
          <a:solidFill>
            <a:srgbClr val="FEFAF0"/>
          </a:solidFill>
          <a:ln w="9525">
            <a:solidFill>
              <a:srgbClr val="A38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A3864B"/>
                </a:solidFill>
                <a:latin typeface="Arial"/>
              </a:defRPr>
            </a:pPr>
            <a:r>
              <a:t>2️⃣ حجوزات المنصات (OTA)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E36"/>
                </a:solidFill>
                <a:latin typeface="Arial"/>
              </a:defRPr>
            </a:pPr>
            <a:r>
              <a:t>التحصيل عند الوصول وشريط التدقيق الإداري الأصفر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22860"/>
          </a:xfrm>
          <a:prstGeom prst="rect">
            <a:avLst/>
          </a:prstGeom>
          <a:solidFill>
            <a:srgbClr val="C5A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438912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0233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A3864B"/>
                </a:solidFill>
                <a:latin typeface="Arial"/>
              </a:defRPr>
            </a:pPr>
            <a:r>
              <a:t>السيناريوهات 9 و 10</a:t>
            </a:r>
          </a:p>
          <a:p>
            <a:pPr>
              <a:defRPr sz="1400" b="1">
                <a:solidFill>
                  <a:srgbClr val="0F1E36"/>
                </a:solidFill>
                <a:latin typeface="Arial"/>
              </a:defRPr>
            </a:pPr>
            <a:r>
              <a:t>📌 الحالة الواقعية (Case Study):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السيناريو 9: حجز Booking.com بخيار الدفع نقداً بالفندق. السيناريو 10: حجز مستورد يحتوي بيانات غير مطابقة.</a:t>
            </a:r>
          </a:p>
          <a:p>
            <a:br/>
            <a:pPr>
              <a:defRPr sz="1300" b="1">
                <a:solidFill>
                  <a:srgbClr val="0F1E36"/>
                </a:solidFill>
                <a:latin typeface="Arial"/>
              </a:defRPr>
            </a:pPr>
            <a:r>
              <a:t>⚙️ الأثر المالي والتشغيلي:</a:t>
            </a:r>
          </a:p>
          <a:p>
            <a:pPr>
              <a:defRPr sz="1050">
                <a:solidFill>
                  <a:srgbClr val="475569"/>
                </a:solidFill>
                <a:latin typeface="Arial"/>
              </a:defRPr>
            </a:pPr>
            <a:r>
              <a:t>ضبط الفروقات بين عمولات المنصات والمبالغ المحصلة، مع ضمان اعتماد الحجوزات السليمة فقط.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94960" y="1645920"/>
            <a:ext cx="603504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0" y="1828800"/>
            <a:ext cx="5486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E36"/>
                </a:solidFill>
                <a:latin typeface="Arial"/>
              </a:defRPr>
            </a:pPr>
            <a:r>
              <a:t>🛠️ خطوات التنفيذ في النظام خطوة بخطوة:</a:t>
            </a:r>
          </a:p>
          <a:p>
            <a:br/>
            <a:pPr>
              <a:defRPr sz="1200" b="1">
                <a:solidFill>
                  <a:srgbClr val="3B82F6"/>
                </a:solidFill>
                <a:latin typeface="Arial"/>
              </a:defRPr>
            </a:pPr>
            <a:r>
              <a:t>[1] التحصيل عند الوصول (Pay at Hotel)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     الحجز يتبع المنصة لكن رصيده يظهر بالأحمر ⚠️؛ يقوم الاستقبال بتحصيل القيمة كاش أو تحويل وتسجيل دفعة عادية.</a:t>
            </a:r>
          </a:p>
          <a:p>
            <a:br/>
            <a:pPr>
              <a:defRPr sz="1200" b="1">
                <a:solidFill>
                  <a:srgbClr val="3B82F6"/>
                </a:solidFill>
                <a:latin typeface="Arial"/>
              </a:defRPr>
            </a:pPr>
            <a:r>
              <a:t>[2] ملاحظة شريط المراجعة الأصفر ⚠️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     إذا ظهر في الحجز شريط أصفر: (⚠️ هذا الحجز يحتاج إلى مراجعة وتدقيق)، فهذا يعني وجود تفاوت بالبيانات.</a:t>
            </a:r>
          </a:p>
          <a:p>
            <a:br/>
            <a:pPr>
              <a:defRPr sz="1200" b="1">
                <a:solidFill>
                  <a:srgbClr val="3B82F6"/>
                </a:solidFill>
                <a:latin typeface="Arial"/>
              </a:defRPr>
            </a:pPr>
            <a:r>
              <a:t>[3] تدقيق الأسعار من قبل المدير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     يقوم مدير الفندق بمراجعة قيمة الحجز ومطابقتها مع إيميل المنصة أو الشيت المعتمد.</a:t>
            </a:r>
          </a:p>
          <a:p>
            <a:br/>
            <a:pPr>
              <a:defRPr sz="1200" b="1">
                <a:solidFill>
                  <a:srgbClr val="3B82F6"/>
                </a:solidFill>
                <a:latin typeface="Arial"/>
              </a:defRPr>
            </a:pPr>
            <a:r>
              <a:t>[4] إتمام المراجعة واعتماد الحجز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     يضغط المدير زر «إتمام المراجعة» لإزالة الشريط الأصفر واعتماد الحجز نهائياً.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852160"/>
            <a:ext cx="10728655" cy="685800"/>
          </a:xfrm>
          <a:prstGeom prst="roundRect">
            <a:avLst/>
          </a:prstGeom>
          <a:solidFill>
            <a:srgbClr val="0F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925312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C5A869"/>
                </a:solidFill>
                <a:latin typeface="Arial"/>
              </a:defRPr>
            </a:pPr>
            <a:r>
              <a:t>💡 قاعدة تشغيلية هامة للاستقبال: إذا كان حجز المنصة يظهر برصيد أحمر، حصله من النزيل كاش فوراً؛ وإذا كان ببادج أزرق فهو مدفوع مسبقاً.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0" cy="320040"/>
          </a:xfrm>
          <a:prstGeom prst="roundRect">
            <a:avLst/>
          </a:prstGeom>
          <a:solidFill>
            <a:srgbClr val="FEFAF0"/>
          </a:solidFill>
          <a:ln w="9525">
            <a:solidFill>
              <a:srgbClr val="A38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A3864B"/>
                </a:solidFill>
                <a:latin typeface="Arial"/>
              </a:defRPr>
            </a:pPr>
            <a:r>
              <a:t>3️⃣ العمليات أثناء الإقامة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E36"/>
                </a:solidFill>
                <a:latin typeface="Arial"/>
              </a:defRPr>
            </a:pPr>
            <a:r>
              <a:t>تمديد فترة الإقامة لنزيل ساكن والفحص الآلي للتوفر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22860"/>
          </a:xfrm>
          <a:prstGeom prst="rect">
            <a:avLst/>
          </a:prstGeom>
          <a:solidFill>
            <a:srgbClr val="C5A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438912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0233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A3864B"/>
                </a:solidFill>
                <a:latin typeface="Arial"/>
              </a:defRPr>
            </a:pPr>
            <a:r>
              <a:t>السيناريو رقم 11</a:t>
            </a:r>
          </a:p>
          <a:p>
            <a:pPr>
              <a:defRPr sz="1400" b="1">
                <a:solidFill>
                  <a:srgbClr val="0F1E36"/>
                </a:solidFill>
                <a:latin typeface="Arial"/>
              </a:defRPr>
            </a:pPr>
            <a:r>
              <a:t>📌 الحالة الواقعية (Case Study):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نزيل مقيم حالياً ويرغب بتمديد إقامته ليلة أو ليلتين إضافيتين دون الحاجة لعمل حجز جديد مكرر.</a:t>
            </a:r>
          </a:p>
          <a:p>
            <a:br/>
            <a:pPr>
              <a:defRPr sz="1300" b="1">
                <a:solidFill>
                  <a:srgbClr val="0F1E36"/>
                </a:solidFill>
                <a:latin typeface="Arial"/>
              </a:defRPr>
            </a:pPr>
            <a:r>
              <a:t>⚙️ الأثر المالي والتشغيلي:</a:t>
            </a:r>
          </a:p>
          <a:p>
            <a:pPr>
              <a:defRPr sz="1050">
                <a:solidFill>
                  <a:srgbClr val="475569"/>
                </a:solidFill>
                <a:latin typeface="Arial"/>
              </a:defRPr>
            </a:pPr>
            <a:r>
              <a:t>تحديث تاريخ المغادرة، وزيادة إجمالي الحجز بالقيمة الإضافية، وتمديد إشغال الغرفة في قاعدة البيانات لمنع حجزها لغيره.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94960" y="1645920"/>
            <a:ext cx="603504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0" y="1828800"/>
            <a:ext cx="5486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E36"/>
                </a:solidFill>
                <a:latin typeface="Arial"/>
              </a:defRPr>
            </a:pPr>
            <a:r>
              <a:t>🛠️ خطوات التنفيذ في النظام خطوة بخطوة:</a:t>
            </a:r>
          </a:p>
          <a:p>
            <a:br/>
            <a:pPr>
              <a:defRPr sz="1200" b="1">
                <a:solidFill>
                  <a:srgbClr val="3B82F6"/>
                </a:solidFill>
                <a:latin typeface="Arial"/>
              </a:defRPr>
            </a:pPr>
            <a:r>
              <a:t>[1] الضغط على زر تمديد الإقامة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     من صفحة الحجز، يضغط الموظف على الزر المخصص: «⏱️ تمديد الإقامة».</a:t>
            </a:r>
          </a:p>
          <a:p>
            <a:br/>
            <a:pPr>
              <a:defRPr sz="1200" b="1">
                <a:solidFill>
                  <a:srgbClr val="3B82F6"/>
                </a:solidFill>
                <a:latin typeface="Arial"/>
              </a:defRPr>
            </a:pPr>
            <a:r>
              <a:t>[2] اختيار عدد الليالي السريعة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     تظهر أزرار سريعة: (+1 ليلة، +2 ليالٍ، +3 ليالٍ، +أسبوع) أو اختيار تاريخ مغادرة جديد.</a:t>
            </a:r>
          </a:p>
          <a:p>
            <a:br/>
            <a:pPr>
              <a:defRPr sz="1200" b="1">
                <a:solidFill>
                  <a:srgbClr val="3B82F6"/>
                </a:solidFill>
                <a:latin typeface="Arial"/>
              </a:defRPr>
            </a:pPr>
            <a:r>
              <a:t>[3] الفحص التلقائي للشغور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     يفحص النظام توفر الوحدة في الأيام الممتدة؛ إذا كانت شاغرة تظهر رسالة خضراء ✨ الوحدة شاغرة ومتاحة.</a:t>
            </a:r>
          </a:p>
          <a:p>
            <a:br/>
            <a:pPr>
              <a:defRPr sz="1200" b="1">
                <a:solidFill>
                  <a:srgbClr val="3B82F6"/>
                </a:solidFill>
                <a:latin typeface="Arial"/>
              </a:defRPr>
            </a:pPr>
            <a:r>
              <a:t>[4] حساب السعر الإضافي وتأكيد التمديد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     يحسب النظام السعر الإضافي المقترح آلياً ويضيفه على الرصيد، وبضغطة واحدة يتحدث التقويم وحساب النزيل.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852160"/>
            <a:ext cx="10728655" cy="685800"/>
          </a:xfrm>
          <a:prstGeom prst="roundRect">
            <a:avLst/>
          </a:prstGeom>
          <a:solidFill>
            <a:srgbClr val="0F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925312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C5A869"/>
                </a:solidFill>
                <a:latin typeface="Arial"/>
              </a:defRPr>
            </a:pPr>
            <a:r>
              <a:t>💡 قاعدة تشغيلية هامة للاستقبال: استخدم دائماً زر «تمديد الإقامة» لأنه يفحص التوفر التلقائي ويمنع تضارب الحجوزات مع النزلاء القادمين.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0" cy="320040"/>
          </a:xfrm>
          <a:prstGeom prst="roundRect">
            <a:avLst/>
          </a:prstGeom>
          <a:solidFill>
            <a:srgbClr val="FEFAF0"/>
          </a:solidFill>
          <a:ln w="9525">
            <a:solidFill>
              <a:srgbClr val="A38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A3864B"/>
                </a:solidFill>
                <a:latin typeface="Arial"/>
              </a:defRPr>
            </a:pPr>
            <a:r>
              <a:t>3️⃣ العمليات أثناء الإقامة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E36"/>
                </a:solidFill>
                <a:latin typeface="Arial"/>
              </a:defRPr>
            </a:pPr>
            <a:r>
              <a:t>المغادرة المبكرة وإعادة احتساب الحساب والاسترداد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22860"/>
          </a:xfrm>
          <a:prstGeom prst="rect">
            <a:avLst/>
          </a:prstGeom>
          <a:solidFill>
            <a:srgbClr val="C5A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438912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0233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A3864B"/>
                </a:solidFill>
                <a:latin typeface="Arial"/>
              </a:defRPr>
            </a:pPr>
            <a:r>
              <a:t>السيناريو رقم 12</a:t>
            </a:r>
          </a:p>
          <a:p>
            <a:pPr>
              <a:defRPr sz="1400" b="1">
                <a:solidFill>
                  <a:srgbClr val="0F1E36"/>
                </a:solidFill>
                <a:latin typeface="Arial"/>
              </a:defRPr>
            </a:pPr>
            <a:r>
              <a:t>📌 الحالة الواقعية (Case Study):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نزيل حجز 5 ليالٍ ودفع مقدماً، لكن لظرف طارئ اضطر للمغادرة بعد ليلتين فقط ويريد تسوية حسابه فوراً.</a:t>
            </a:r>
          </a:p>
          <a:p>
            <a:br/>
            <a:pPr>
              <a:defRPr sz="1300" b="1">
                <a:solidFill>
                  <a:srgbClr val="0F1E36"/>
                </a:solidFill>
                <a:latin typeface="Arial"/>
              </a:defRPr>
            </a:pPr>
            <a:r>
              <a:t>⚙️ الأثر المالي والتشغيلي:</a:t>
            </a:r>
          </a:p>
          <a:p>
            <a:pPr>
              <a:defRPr sz="1050">
                <a:solidFill>
                  <a:srgbClr val="475569"/>
                </a:solidFill>
                <a:latin typeface="Arial"/>
              </a:defRPr>
            </a:pPr>
            <a:r>
              <a:t>تعديل تاريخ المغادرة إلى اليوم، وتعديل إجمالي الحجز ليعكس الليالي الفعلية، وإخلاء الغرفة على التقويم لتباع لنزيل جديد.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94960" y="1645920"/>
            <a:ext cx="603504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0" y="1828800"/>
            <a:ext cx="5486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E36"/>
                </a:solidFill>
                <a:latin typeface="Arial"/>
              </a:defRPr>
            </a:pPr>
            <a:r>
              <a:t>🛠️ خطوات التنفيذ في النظام خطوة بخطوة:</a:t>
            </a:r>
          </a:p>
          <a:p>
            <a:br/>
            <a:pPr>
              <a:defRPr sz="1200" b="1">
                <a:solidFill>
                  <a:srgbClr val="3B82F6"/>
                </a:solidFill>
                <a:latin typeface="Arial"/>
              </a:defRPr>
            </a:pPr>
            <a:r>
              <a:t>[1] الضغط على زر مغادرة مبكرة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     من صفحة الحجز المقيم، يضغط الموظف زر «🚪🏃‍♂️ مغادرة مبكرة».</a:t>
            </a:r>
          </a:p>
          <a:p>
            <a:br/>
            <a:pPr>
              <a:defRPr sz="1200" b="1">
                <a:solidFill>
                  <a:srgbClr val="3B82F6"/>
                </a:solidFill>
                <a:latin typeface="Arial"/>
              </a:defRPr>
            </a:pPr>
            <a:r>
              <a:t>[2] احتساب الليالي الفعلية تلقائياً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     يحدد النظام تاريخ اليوم كتاريخ مغادرة فعلي ويحسب عدد الليالي المسكونة (ليلتين).</a:t>
            </a:r>
          </a:p>
          <a:p>
            <a:br/>
            <a:pPr>
              <a:defRPr sz="1200" b="1">
                <a:solidFill>
                  <a:srgbClr val="3B82F6"/>
                </a:solidFill>
                <a:latin typeface="Arial"/>
              </a:defRPr>
            </a:pPr>
            <a:r>
              <a:t>[3] اختيار سياسة التسوية المالية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     1. إعادة احتساب الحساب حسب الليالي الفعلية (موصى به) ويظهر فوراً المبلغ المستحق استرداده للنزيل.</a:t>
            </a:r>
          </a:p>
          <a:p>
            <a:br/>
            <a:pPr>
              <a:defRPr sz="1200" b="1">
                <a:solidFill>
                  <a:srgbClr val="3B82F6"/>
                </a:solidFill>
                <a:latin typeface="Arial"/>
              </a:defRPr>
            </a:pPr>
            <a:r>
              <a:t>[4] تسجيل سند الاسترداد وإخلاء الغرفة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     تفعيل خيار: (تسجيل تسليم المبلغ المسترد للنزيل كاش الآن)؛ فيتم الخروج وتحرير الغرفة للبيع فوراً.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852160"/>
            <a:ext cx="10728655" cy="685800"/>
          </a:xfrm>
          <a:prstGeom prst="roundRect">
            <a:avLst/>
          </a:prstGeom>
          <a:solidFill>
            <a:srgbClr val="0F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925312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C5A869"/>
                </a:solidFill>
                <a:latin typeface="Arial"/>
              </a:defRPr>
            </a:pPr>
            <a:r>
              <a:t>💡 قاعدة تشغيلية هامة للاستقبال: المغادرة المبكرة تتيح للفندق إعادة بيع الغرفة في نفس الليلة لضيف آخر بدلاً من بقائها معلقة.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0" cy="320040"/>
          </a:xfrm>
          <a:prstGeom prst="roundRect">
            <a:avLst/>
          </a:prstGeom>
          <a:solidFill>
            <a:srgbClr val="FEFAF0"/>
          </a:solidFill>
          <a:ln w="9525">
            <a:solidFill>
              <a:srgbClr val="A38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A3864B"/>
                </a:solidFill>
                <a:latin typeface="Arial"/>
              </a:defRPr>
            </a:pPr>
            <a:r>
              <a:t>3️⃣ العمليات أثناء الإقامة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E36"/>
                </a:solidFill>
                <a:latin typeface="Arial"/>
              </a:defRPr>
            </a:pPr>
            <a:r>
              <a:t>نقل النزيل لغرفة أخرى وترقية الوحدات أثناء السكن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22860"/>
          </a:xfrm>
          <a:prstGeom prst="rect">
            <a:avLst/>
          </a:prstGeom>
          <a:solidFill>
            <a:srgbClr val="C5A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438912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0233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A3864B"/>
                </a:solidFill>
                <a:latin typeface="Arial"/>
              </a:defRPr>
            </a:pPr>
            <a:r>
              <a:t>السيناريو رقم 13</a:t>
            </a:r>
          </a:p>
          <a:p>
            <a:pPr>
              <a:defRPr sz="1400" b="1">
                <a:solidFill>
                  <a:srgbClr val="0F1E36"/>
                </a:solidFill>
                <a:latin typeface="Arial"/>
              </a:defRPr>
            </a:pPr>
            <a:r>
              <a:t>📌 الحالة الواقعية (Case Study):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حدث عطل فني في الغرفة (تكييف/سباكة)، أو طلب النزيل ترقية إقامته من غرفة مستقلة إلى فيلا كاملة بمسبح.</a:t>
            </a:r>
          </a:p>
          <a:p>
            <a:br/>
            <a:pPr>
              <a:defRPr sz="1300" b="1">
                <a:solidFill>
                  <a:srgbClr val="0F1E36"/>
                </a:solidFill>
                <a:latin typeface="Arial"/>
              </a:defRPr>
            </a:pPr>
            <a:r>
              <a:t>⚙️ الأثر المالي والتشغيلي:</a:t>
            </a:r>
          </a:p>
          <a:p>
            <a:pPr>
              <a:defRPr sz="1050">
                <a:solidFill>
                  <a:srgbClr val="475569"/>
                </a:solidFill>
                <a:latin typeface="Arial"/>
              </a:defRPr>
            </a:pPr>
            <a:r>
              <a:t>نقل الحجز والإشغال للغرفة الجديدة على التقويم، وتحرير الغرفة السابقة للصيانة، ونقل كافة المدفوعات السابقة بأمان.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94960" y="1645920"/>
            <a:ext cx="603504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0" y="1828800"/>
            <a:ext cx="5486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E36"/>
                </a:solidFill>
                <a:latin typeface="Arial"/>
              </a:defRPr>
            </a:pPr>
            <a:r>
              <a:t>🛠️ خطوات التنفيذ في النظام خطوة بخطوة:</a:t>
            </a:r>
          </a:p>
          <a:p>
            <a:br/>
            <a:pPr>
              <a:defRPr sz="1200" b="1">
                <a:solidFill>
                  <a:srgbClr val="3B82F6"/>
                </a:solidFill>
                <a:latin typeface="Arial"/>
              </a:defRPr>
            </a:pPr>
            <a:r>
              <a:t>[1] الضغط على زر نقل الوحدة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     من صفحة الحجز، يضغط الموظف زر «🔄 نقل الوحدة».</a:t>
            </a:r>
          </a:p>
          <a:p>
            <a:br/>
            <a:pPr>
              <a:defRPr sz="1200" b="1">
                <a:solidFill>
                  <a:srgbClr val="3B82F6"/>
                </a:solidFill>
                <a:latin typeface="Arial"/>
              </a:defRPr>
            </a:pPr>
            <a:r>
              <a:t>[2] عرض البدائل الشاغرة فقط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     يعرض النظام قائمة منسدلة بالوحدات المتاحة فعلياً فقط في التواريخ المتبقية لنفس الحجز.</a:t>
            </a:r>
          </a:p>
          <a:p>
            <a:br/>
            <a:pPr>
              <a:defRPr sz="1200" b="1">
                <a:solidFill>
                  <a:srgbClr val="3B82F6"/>
                </a:solidFill>
                <a:latin typeface="Arial"/>
              </a:defRPr>
            </a:pPr>
            <a:r>
              <a:t>[3] اختيار سياسة التسعير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     الاحتفاظ بنفس السعر السابق (مجاناً كتعويض عن العطل الفني)، أو تعديل السعر حسب الوحدة الجديدة (ترقية مدفوعة).</a:t>
            </a:r>
          </a:p>
          <a:p>
            <a:br/>
            <a:pPr>
              <a:defRPr sz="1200" b="1">
                <a:solidFill>
                  <a:srgbClr val="3B82F6"/>
                </a:solidFill>
                <a:latin typeface="Arial"/>
              </a:defRPr>
            </a:pPr>
            <a:r>
              <a:t>[4] تسجيل سبب النقل والتأكيد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     اختيار سبب النقل (صيانة وعطل فني / ترقية Upgrade / طلب النزيل) ثم الضغط على تأكيد النقل.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852160"/>
            <a:ext cx="10728655" cy="685800"/>
          </a:xfrm>
          <a:prstGeom prst="roundRect">
            <a:avLst/>
          </a:prstGeom>
          <a:solidFill>
            <a:srgbClr val="0F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925312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C5A869"/>
                </a:solidFill>
                <a:latin typeface="Arial"/>
              </a:defRPr>
            </a:pPr>
            <a:r>
              <a:t>💡 قاعدة تشغيلية هامة للاستقبال: نقل الوحدة يحافظ على سجل الدفعات السابقة بالكامل ويوثق سبب النقل في الملاحظات لأغراض التدقيق.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0" cy="320040"/>
          </a:xfrm>
          <a:prstGeom prst="roundRect">
            <a:avLst/>
          </a:prstGeom>
          <a:solidFill>
            <a:srgbClr val="FEFAF0"/>
          </a:solidFill>
          <a:ln w="9525">
            <a:solidFill>
              <a:srgbClr val="A38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A3864B"/>
                </a:solidFill>
                <a:latin typeface="Arial"/>
              </a:defRPr>
            </a:pPr>
            <a:r>
              <a:t>3️⃣ العمليات أثناء الإقامة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E36"/>
                </a:solidFill>
                <a:latin typeface="Arial"/>
              </a:defRPr>
            </a:pPr>
            <a:r>
              <a:t>تجزئة السداد وتعدد طرق الدفع كاش وبنكياً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22860"/>
          </a:xfrm>
          <a:prstGeom prst="rect">
            <a:avLst/>
          </a:prstGeom>
          <a:solidFill>
            <a:srgbClr val="C5A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438912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0233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A3864B"/>
                </a:solidFill>
                <a:latin typeface="Arial"/>
              </a:defRPr>
            </a:pPr>
            <a:r>
              <a:t>السيناريو رقم 14</a:t>
            </a:r>
          </a:p>
          <a:p>
            <a:pPr>
              <a:defRPr sz="1400" b="1">
                <a:solidFill>
                  <a:srgbClr val="0F1E36"/>
                </a:solidFill>
                <a:latin typeface="Arial"/>
              </a:defRPr>
            </a:pPr>
            <a:r>
              <a:t>📌 الحالة الواقعية (Case Study):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حجز بقيمة 3 ملايين روبية، النزيل دفع مليون عربون بالتحويل البنكي، ومليون كاش عند الوصول، ومليون كاش عند المغادرة.</a:t>
            </a:r>
          </a:p>
          <a:p>
            <a:br/>
            <a:pPr>
              <a:defRPr sz="1300" b="1">
                <a:solidFill>
                  <a:srgbClr val="0F1E36"/>
                </a:solidFill>
                <a:latin typeface="Arial"/>
              </a:defRPr>
            </a:pPr>
            <a:r>
              <a:t>⚙️ الأثر المالي والتشغيلي:</a:t>
            </a:r>
          </a:p>
          <a:p>
            <a:pPr>
              <a:defRPr sz="1050">
                <a:solidFill>
                  <a:srgbClr val="475569"/>
                </a:solidFill>
                <a:latin typeface="Arial"/>
              </a:defRPr>
            </a:pPr>
            <a:r>
              <a:t>تتبع دقيق للرصيد المتبقي لحظة بلحظة، وتوزيع المقبوضات حسب قنواتها لمنع أي عجز أو تداخل في صندوق الدرج.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94960" y="1645920"/>
            <a:ext cx="603504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0" y="1828800"/>
            <a:ext cx="5486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E36"/>
                </a:solidFill>
                <a:latin typeface="Arial"/>
              </a:defRPr>
            </a:pPr>
            <a:r>
              <a:t>🛠️ خطوات التنفيذ في النظام خطوة بخطوة:</a:t>
            </a:r>
          </a:p>
          <a:p>
            <a:br/>
            <a:pPr>
              <a:defRPr sz="1200" b="1">
                <a:solidFill>
                  <a:srgbClr val="3B82F6"/>
                </a:solidFill>
                <a:latin typeface="Arial"/>
              </a:defRPr>
            </a:pPr>
            <a:r>
              <a:t>[1] تسجيل الدفعة الأولى (عربون بنكي)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     تسجيل دفعة بقيمة 1.000.000 بطريقة (تحويل بنكي Transfer) مع كتابة رقم المرجع البنكي.</a:t>
            </a:r>
          </a:p>
          <a:p>
            <a:br/>
            <a:pPr>
              <a:defRPr sz="1200" b="1">
                <a:solidFill>
                  <a:srgbClr val="3B82F6"/>
                </a:solidFill>
                <a:latin typeface="Arial"/>
              </a:defRPr>
            </a:pPr>
            <a:r>
              <a:t>[2] تسجيل الدفعة الثانية (كاش عند الدخول)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     عند تسجيل الوصول يضغط الموظف «إضافة دفعة» ويسجل 1.000.000 بطريقة (نقداً Cash).</a:t>
            </a:r>
          </a:p>
          <a:p>
            <a:br/>
            <a:pPr>
              <a:defRPr sz="1200" b="1">
                <a:solidFill>
                  <a:srgbClr val="3B82F6"/>
                </a:solidFill>
                <a:latin typeface="Arial"/>
              </a:defRPr>
            </a:pPr>
            <a:r>
              <a:t>[3] تسجيل الدفعة الثالثة (تصفية الحساب)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     قبل المغادرة يضغط الموظف «إضافة دفعة» ويسجل المليون الأخير ليصبح الرصيد 0 خالص.</a:t>
            </a:r>
          </a:p>
          <a:p>
            <a:br/>
            <a:pPr>
              <a:defRPr sz="1200" b="1">
                <a:solidFill>
                  <a:srgbClr val="3B82F6"/>
                </a:solidFill>
                <a:latin typeface="Arial"/>
              </a:defRPr>
            </a:pPr>
            <a:r>
              <a:t>[4] طباعة الإيصال النهائي المجمع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     استخراج إيصال تأكيد الحجز المحدث الذي يظهر كل دفعة بتاريخها وطريقتها واسم الموظف المستلم.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852160"/>
            <a:ext cx="10728655" cy="685800"/>
          </a:xfrm>
          <a:prstGeom prst="roundRect">
            <a:avLst/>
          </a:prstGeom>
          <a:solidFill>
            <a:srgbClr val="0F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925312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C5A869"/>
                </a:solidFill>
                <a:latin typeface="Arial"/>
              </a:defRPr>
            </a:pPr>
            <a:r>
              <a:t>💡 قاعدة تشغيلية هامة للاستقبال: سجل كل دفعة فور استلامها مباشرة داخل الحجز؛ تأجيل التسجيل هو السبب الأول لحدوث العجز المالي.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0" cy="320040"/>
          </a:xfrm>
          <a:prstGeom prst="roundRect">
            <a:avLst/>
          </a:prstGeom>
          <a:solidFill>
            <a:srgbClr val="FEFAF0"/>
          </a:solidFill>
          <a:ln w="9525">
            <a:solidFill>
              <a:srgbClr val="A38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A3864B"/>
                </a:solidFill>
                <a:latin typeface="Arial"/>
              </a:defRPr>
            </a:pPr>
            <a:r>
              <a:t>4️⃣ الإلغاء وعدم الحضور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E36"/>
                </a:solidFill>
                <a:latin typeface="Arial"/>
              </a:defRPr>
            </a:pPr>
            <a:r>
              <a:t>الإلغاء المجاني والإلغاء مع استرداد كامل المبلغ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22860"/>
          </a:xfrm>
          <a:prstGeom prst="rect">
            <a:avLst/>
          </a:prstGeom>
          <a:solidFill>
            <a:srgbClr val="C5A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438912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0233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A3864B"/>
                </a:solidFill>
                <a:latin typeface="Arial"/>
              </a:defRPr>
            </a:pPr>
            <a:r>
              <a:t>السيناريوهات 15 و 16</a:t>
            </a:r>
          </a:p>
          <a:p>
            <a:pPr>
              <a:defRPr sz="1400" b="1">
                <a:solidFill>
                  <a:srgbClr val="0F1E36"/>
                </a:solidFill>
                <a:latin typeface="Arial"/>
              </a:defRPr>
            </a:pPr>
            <a:r>
              <a:t>📌 الحالة الواقعية (Case Study):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السيناريو 15: نزيل حجز هاتفياً وألغى ولم يدفع عربوناً. السيناريو 16: نزيل دفع عربوناً وألغى ضمن مهلة الإلغاء المجاني.</a:t>
            </a:r>
          </a:p>
          <a:p>
            <a:br/>
            <a:pPr>
              <a:defRPr sz="1300" b="1">
                <a:solidFill>
                  <a:srgbClr val="0F1E36"/>
                </a:solidFill>
                <a:latin typeface="Arial"/>
              </a:defRPr>
            </a:pPr>
            <a:r>
              <a:t>⚙️ الأثر المالي والتشغيلي:</a:t>
            </a:r>
          </a:p>
          <a:p>
            <a:pPr>
              <a:defRPr sz="1050">
                <a:solidFill>
                  <a:srgbClr val="475569"/>
                </a:solidFill>
                <a:latin typeface="Arial"/>
              </a:defRPr>
            </a:pPr>
            <a:r>
              <a:t>تحرير الوحدة فوراً على التقويم لتباع لضيف آخر، وتوثيق صرف النقدية من الدرج بشكل محاسبي سليم لمنع تضارب الصندوق.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94960" y="1645920"/>
            <a:ext cx="603504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0" y="1828800"/>
            <a:ext cx="5486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E36"/>
                </a:solidFill>
                <a:latin typeface="Arial"/>
              </a:defRPr>
            </a:pPr>
            <a:r>
              <a:t>🛠️ خطوات التنفيذ في النظام خطوة بخطوة:</a:t>
            </a:r>
          </a:p>
          <a:p>
            <a:br/>
            <a:pPr>
              <a:defRPr sz="1200" b="1">
                <a:solidFill>
                  <a:srgbClr val="3B82F6"/>
                </a:solidFill>
                <a:latin typeface="Arial"/>
              </a:defRPr>
            </a:pPr>
            <a:r>
              <a:t>[1] الضغط على زر إلغاء الحجز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     من صفحة الحجز، يضغط الموظف على زر «إلغاء الحجز» الأحمر.</a:t>
            </a:r>
          </a:p>
          <a:p>
            <a:br/>
            <a:pPr>
              <a:defRPr sz="1200" b="1">
                <a:solidFill>
                  <a:srgbClr val="3B82F6"/>
                </a:solidFill>
                <a:latin typeface="Arial"/>
              </a:defRPr>
            </a:pPr>
            <a:r>
              <a:t>[2] التعامل مع الحجز غير المدفوع (س 15)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     يوضح النظام عدم وجود دفعات؛ وبضغطة واحدة يُلغى الحجز وتتحرر الغرفة فوراً على التقويم.</a:t>
            </a:r>
          </a:p>
          <a:p>
            <a:br/>
            <a:pPr>
              <a:defRPr sz="1200" b="1">
                <a:solidFill>
                  <a:srgbClr val="3B82F6"/>
                </a:solidFill>
                <a:latin typeface="Arial"/>
              </a:defRPr>
            </a:pPr>
            <a:r>
              <a:t>[3] التعامل مع الحجز المدفوع (س 16)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     يظهر النظام إجمالي المدفوع ويختار الموظف سياسة: «استرداد كامل المبلغ (إلغاء مجاني)».</a:t>
            </a:r>
          </a:p>
          <a:p>
            <a:br/>
            <a:pPr>
              <a:defRPr sz="1200" b="1">
                <a:solidFill>
                  <a:srgbClr val="3B82F6"/>
                </a:solidFill>
                <a:latin typeface="Arial"/>
              </a:defRPr>
            </a:pPr>
            <a:r>
              <a:t>[4] تسجيل تسليم الكاش المسترد فوراً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     تفعيل خيار: (تسجيل تسليم المبلغ المسترد للنزيل كاش/تحويل الآن)؛ لتوثيق سند الصرف المحاسبي.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852160"/>
            <a:ext cx="10728655" cy="685800"/>
          </a:xfrm>
          <a:prstGeom prst="roundRect">
            <a:avLst/>
          </a:prstGeom>
          <a:solidFill>
            <a:srgbClr val="0F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925312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C5A869"/>
                </a:solidFill>
                <a:latin typeface="Arial"/>
              </a:defRPr>
            </a:pPr>
            <a:r>
              <a:t>💡 قاعدة تشغيلية هامة للاستقبال: إذا أعدت الكاش للنزيل، تأكد من تفعيل خيار تسجيل الاسترداد فوراً حتى ينخفض رصيد الدرج تلقائياً.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0" cy="320040"/>
          </a:xfrm>
          <a:prstGeom prst="roundRect">
            <a:avLst/>
          </a:prstGeom>
          <a:solidFill>
            <a:srgbClr val="FEFAF0"/>
          </a:solidFill>
          <a:ln w="9525">
            <a:solidFill>
              <a:srgbClr val="A38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A3864B"/>
                </a:solidFill>
                <a:latin typeface="Arial"/>
              </a:defRPr>
            </a:pPr>
            <a:r>
              <a:t>4️⃣ الإلغاء وعدم الحضور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E36"/>
                </a:solidFill>
                <a:latin typeface="Arial"/>
              </a:defRPr>
            </a:pPr>
            <a:r>
              <a:t>الإلغاء مع اقتطاع غرامة فندقية رسمية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22860"/>
          </a:xfrm>
          <a:prstGeom prst="rect">
            <a:avLst/>
          </a:prstGeom>
          <a:solidFill>
            <a:srgbClr val="C5A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438912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0233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A3864B"/>
                </a:solidFill>
                <a:latin typeface="Arial"/>
              </a:defRPr>
            </a:pPr>
            <a:r>
              <a:t>السيناريو رقم 17</a:t>
            </a:r>
          </a:p>
          <a:p>
            <a:pPr>
              <a:defRPr sz="1400" b="1">
                <a:solidFill>
                  <a:srgbClr val="0F1E36"/>
                </a:solidFill>
                <a:latin typeface="Arial"/>
              </a:defRPr>
            </a:pPr>
            <a:r>
              <a:t>📌 الحالة الواقعية (Case Study):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نزيل دفع مليون روبية وألغى في اللحظة الأخيرة؛ وسياسة الفندق تقتضي خصم ليلة واحدة (400 ألف) كغرامة وإرجاع الباقي.</a:t>
            </a:r>
          </a:p>
          <a:p>
            <a:br/>
            <a:pPr>
              <a:defRPr sz="1300" b="1">
                <a:solidFill>
                  <a:srgbClr val="0F1E36"/>
                </a:solidFill>
                <a:latin typeface="Arial"/>
              </a:defRPr>
            </a:pPr>
            <a:r>
              <a:t>⚙️ الأثر المالي والتشغيلي:</a:t>
            </a:r>
          </a:p>
          <a:p>
            <a:pPr>
              <a:defRPr sz="1050">
                <a:solidFill>
                  <a:srgbClr val="475569"/>
                </a:solidFill>
                <a:latin typeface="Arial"/>
              </a:defRPr>
            </a:pPr>
            <a:r>
              <a:t>تحويل الغرامة المقتطعة إلى إيراد فندقي رسمي مثبت بالتقارير، وإعادة الغرفة شاغرة للتقويم دون أي مبالغ معلقة.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94960" y="1645920"/>
            <a:ext cx="603504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0" y="1828800"/>
            <a:ext cx="5486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E36"/>
                </a:solidFill>
                <a:latin typeface="Arial"/>
              </a:defRPr>
            </a:pPr>
            <a:r>
              <a:t>🛠️ خطوات التنفيذ في النظام خطوة بخطوة:</a:t>
            </a:r>
          </a:p>
          <a:p>
            <a:br/>
            <a:pPr>
              <a:defRPr sz="1200" b="1">
                <a:solidFill>
                  <a:srgbClr val="3B82F6"/>
                </a:solidFill>
                <a:latin typeface="Arial"/>
              </a:defRPr>
            </a:pPr>
            <a:r>
              <a:t>[1] الضغط على زر إلغاء الحجز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     فتح صفحة الحجز وضغط زر «إلغاء الحجز».</a:t>
            </a:r>
          </a:p>
          <a:p>
            <a:br/>
            <a:pPr>
              <a:defRPr sz="1200" b="1">
                <a:solidFill>
                  <a:srgbClr val="3B82F6"/>
                </a:solidFill>
                <a:latin typeface="Arial"/>
              </a:defRPr>
            </a:pPr>
            <a:r>
              <a:t>[2] اختيار سياسة خصم غرامة فندقية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     اختيار: «خصم غرامة إلغاء / رسوم إدارية (Partial Penalty)».</a:t>
            </a:r>
          </a:p>
          <a:p>
            <a:br/>
            <a:pPr>
              <a:defRPr sz="1200" b="1">
                <a:solidFill>
                  <a:srgbClr val="3B82F6"/>
                </a:solidFill>
                <a:latin typeface="Arial"/>
              </a:defRPr>
            </a:pPr>
            <a:r>
              <a:t>[3] إدخال مبلغ الغرامة المستقطع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     كتابة مبلغ غرامة الفندق (مثال: 400.000)؛ فيحسب النظام آلياً: المستحق إرجاعه للنزيل = 600.000.</a:t>
            </a:r>
          </a:p>
          <a:p>
            <a:br/>
            <a:pPr>
              <a:defRPr sz="1200" b="1">
                <a:solidFill>
                  <a:srgbClr val="3B82F6"/>
                </a:solidFill>
                <a:latin typeface="Arial"/>
              </a:defRPr>
            </a:pPr>
            <a:r>
              <a:t>[4] تعديل قيمة الحجز واعتماد الإيراد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     يعدل النظام إجمالي الحجز ليصبح 400 ألف فقط (ليدخل في أرباح الفندق الرسمية) ويسجل استرداد 600 ألف للنزيل.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852160"/>
            <a:ext cx="10728655" cy="685800"/>
          </a:xfrm>
          <a:prstGeom prst="roundRect">
            <a:avLst/>
          </a:prstGeom>
          <a:solidFill>
            <a:srgbClr val="0F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925312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C5A869"/>
                </a:solidFill>
                <a:latin typeface="Arial"/>
              </a:defRPr>
            </a:pPr>
            <a:r>
              <a:t>💡 قاعدة تشغيلية هامة للاستقبال: الغرامة الفندقية هي إيراد رسمي للفندق؛ والنظام يضمن إدراجها ضمن دخل الفندق المحاسبي بدقة.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0" cy="320040"/>
          </a:xfrm>
          <a:prstGeom prst="roundRect">
            <a:avLst/>
          </a:prstGeom>
          <a:solidFill>
            <a:srgbClr val="FEFAF0"/>
          </a:solidFill>
          <a:ln w="9525">
            <a:solidFill>
              <a:srgbClr val="A38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A3864B"/>
                </a:solidFill>
                <a:latin typeface="Arial"/>
              </a:defRPr>
            </a:pPr>
            <a:r>
              <a:t>4️⃣ الإلغاء وعدم الحضور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E36"/>
                </a:solidFill>
                <a:latin typeface="Arial"/>
              </a:defRPr>
            </a:pPr>
            <a:r>
              <a:t>تسجيل عدم حضور النزيل ومصادرة العربون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22860"/>
          </a:xfrm>
          <a:prstGeom prst="rect">
            <a:avLst/>
          </a:prstGeom>
          <a:solidFill>
            <a:srgbClr val="C5A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438912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0233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A3864B"/>
                </a:solidFill>
                <a:latin typeface="Arial"/>
              </a:defRPr>
            </a:pPr>
            <a:r>
              <a:t>السيناريو رقم 18</a:t>
            </a:r>
          </a:p>
          <a:p>
            <a:pPr>
              <a:defRPr sz="1400" b="1">
                <a:solidFill>
                  <a:srgbClr val="0F1E36"/>
                </a:solidFill>
                <a:latin typeface="Arial"/>
              </a:defRPr>
            </a:pPr>
            <a:r>
              <a:t>📌 الحالة الواقعية (Case Study):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النزيل حجز ودفع عربوناً وانقضى موعد وصوله ولم يحضر ولم يتواصل مع الفندق إطلاقاً.</a:t>
            </a:r>
          </a:p>
          <a:p>
            <a:br/>
            <a:pPr>
              <a:defRPr sz="1300" b="1">
                <a:solidFill>
                  <a:srgbClr val="0F1E36"/>
                </a:solidFill>
                <a:latin typeface="Arial"/>
              </a:defRPr>
            </a:pPr>
            <a:r>
              <a:t>⚙️ الأثر المالي والتشغيلي:</a:t>
            </a:r>
          </a:p>
          <a:p>
            <a:pPr>
              <a:defRPr sz="1050">
                <a:solidFill>
                  <a:srgbClr val="475569"/>
                </a:solidFill>
                <a:latin typeface="Arial"/>
              </a:defRPr>
            </a:pPr>
            <a:r>
              <a:t>مصادرة العربون كإيراد مستحق للفندق تعويضاً عن حجز الغرفة ومنع بيعها، مع إخلاء الغرفة لإعادة استثمارها.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94960" y="1645920"/>
            <a:ext cx="603504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0" y="1828800"/>
            <a:ext cx="5486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E36"/>
                </a:solidFill>
                <a:latin typeface="Arial"/>
              </a:defRPr>
            </a:pPr>
            <a:r>
              <a:t>🛠️ خطوات التنفيذ في النظام خطوة بخطوة:</a:t>
            </a:r>
          </a:p>
          <a:p>
            <a:br/>
            <a:pPr>
              <a:defRPr sz="1200" b="1">
                <a:solidFill>
                  <a:srgbClr val="3B82F6"/>
                </a:solidFill>
                <a:latin typeface="Arial"/>
              </a:defRPr>
            </a:pPr>
            <a:r>
              <a:t>[1] الضغط على زر لم يحضر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     من صفحة الحجز المؤكد، يضغط الموظف على زر «لم يحضر (No-Show)».</a:t>
            </a:r>
          </a:p>
          <a:p>
            <a:br/>
            <a:pPr>
              <a:defRPr sz="1200" b="1">
                <a:solidFill>
                  <a:srgbClr val="3B82F6"/>
                </a:solidFill>
                <a:latin typeface="Arial"/>
              </a:defRPr>
            </a:pPr>
            <a:r>
              <a:t>[2] اختيار مصادرة كامل المبلغ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     اختيار سياسة: «مصادرة كامل المبلغ / غير قابل للاسترداد (Denda 100%)».</a:t>
            </a:r>
          </a:p>
          <a:p>
            <a:br/>
            <a:pPr>
              <a:defRPr sz="1200" b="1">
                <a:solidFill>
                  <a:srgbClr val="3B82F6"/>
                </a:solidFill>
                <a:latin typeface="Arial"/>
              </a:defRPr>
            </a:pPr>
            <a:r>
              <a:t>[3] اعتماد الغرامة بالكامل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     يعتمد النظام كامل المبلغ المدفوع كإيراد غرامة عدم حضور رسمية للفندق (المستحق للنزيل = 0).</a:t>
            </a:r>
          </a:p>
          <a:p>
            <a:br/>
            <a:pPr>
              <a:defRPr sz="1200" b="1">
                <a:solidFill>
                  <a:srgbClr val="3B82F6"/>
                </a:solidFill>
                <a:latin typeface="Arial"/>
              </a:defRPr>
            </a:pPr>
            <a:r>
              <a:t>[4] تحرير الغرفة للبيع الفوري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     تتحول حالة الحجز لـ «لم يحضر» بالوسام الأصفر، وتتحرر الغرفة فوراً في التقويم لتباع لنزيل جديد.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852160"/>
            <a:ext cx="10728655" cy="685800"/>
          </a:xfrm>
          <a:prstGeom prst="roundRect">
            <a:avLst/>
          </a:prstGeom>
          <a:solidFill>
            <a:srgbClr val="0F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925312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C5A869"/>
                </a:solidFill>
                <a:latin typeface="Arial"/>
              </a:defRPr>
            </a:pPr>
            <a:r>
              <a:t>💡 قاعدة تشغيلية هامة للاستقبال: تسجيل No-Show يحفظ حق الفندق المالي ويسمح لك ببيع الغرفة فوراً لأي نزيل Walk-in في نفس الليلة.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0" cy="320040"/>
          </a:xfrm>
          <a:prstGeom prst="roundRect">
            <a:avLst/>
          </a:prstGeom>
          <a:solidFill>
            <a:srgbClr val="FEFAF0"/>
          </a:solidFill>
          <a:ln w="9525">
            <a:solidFill>
              <a:srgbClr val="A38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A3864B"/>
                </a:solidFill>
                <a:latin typeface="Arial"/>
              </a:defRPr>
            </a:pPr>
            <a:r>
              <a:t>5️⃣ النظافة وإدارة المرافق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E36"/>
                </a:solidFill>
                <a:latin typeface="Arial"/>
              </a:defRPr>
            </a:pPr>
            <a:r>
              <a:t>نظام متابعة نظافة الغرف والفلل الفوري (Housekeeping)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22860"/>
          </a:xfrm>
          <a:prstGeom prst="rect">
            <a:avLst/>
          </a:prstGeom>
          <a:solidFill>
            <a:srgbClr val="C5A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438912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0233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A3864B"/>
                </a:solidFill>
                <a:latin typeface="Arial"/>
              </a:defRPr>
            </a:pPr>
            <a:r>
              <a:t>السيناريوهات 19 و 20</a:t>
            </a:r>
          </a:p>
          <a:p>
            <a:pPr>
              <a:defRPr sz="1400" b="1">
                <a:solidFill>
                  <a:srgbClr val="0F1E36"/>
                </a:solidFill>
                <a:latin typeface="Arial"/>
              </a:defRPr>
            </a:pPr>
            <a:r>
              <a:t>📌 الحالة الواقعية (Case Study):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متابعة دورة نظافة الغرف والفلل لمنع تسليم أي غرفة غير نظيفة أو تأخير تسكين النزلاء القادمين.</a:t>
            </a:r>
          </a:p>
          <a:p>
            <a:br/>
            <a:pPr>
              <a:defRPr sz="1300" b="1">
                <a:solidFill>
                  <a:srgbClr val="0F1E36"/>
                </a:solidFill>
                <a:latin typeface="Arial"/>
              </a:defRPr>
            </a:pPr>
            <a:r>
              <a:t>⚙️ الأثر المالي والتشغيلي:</a:t>
            </a:r>
          </a:p>
          <a:p>
            <a:pPr>
              <a:defRPr sz="1050">
                <a:solidFill>
                  <a:srgbClr val="475569"/>
                </a:solidFill>
                <a:latin typeface="Arial"/>
              </a:defRPr>
            </a:pPr>
            <a:r>
              <a:t>تزامن لحظي بين أجهزة الاستقبال والإدارة لمنع تسليم غرفة غير جاهزة لأي نزيل، ورفع مستوى جودة الخدمة الفندقية.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94960" y="1645920"/>
            <a:ext cx="603504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0" y="1828800"/>
            <a:ext cx="5486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E36"/>
                </a:solidFill>
                <a:latin typeface="Arial"/>
              </a:defRPr>
            </a:pPr>
            <a:r>
              <a:t>🛠️ خطوات التنفيذ في النظام خطوة بخطوة:</a:t>
            </a:r>
          </a:p>
          <a:p>
            <a:br/>
            <a:pPr>
              <a:defRPr sz="1200" b="1">
                <a:solidFill>
                  <a:srgbClr val="3B82F6"/>
                </a:solidFill>
                <a:latin typeface="Arial"/>
              </a:defRPr>
            </a:pPr>
            <a:r>
              <a:t>[1] التحول التلقائي بعد المغادرة (س 19)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     بمجرد ضغط الموظف على «تسجيل المغادرة»، تتحول حالة الغرفة فوراً إلى 🧹 تحتاج تنظيف.</a:t>
            </a:r>
          </a:p>
          <a:p>
            <a:br/>
            <a:pPr>
              <a:defRPr sz="1200" b="1">
                <a:solidFill>
                  <a:srgbClr val="3B82F6"/>
                </a:solidFill>
                <a:latin typeface="Arial"/>
              </a:defRPr>
            </a:pPr>
            <a:r>
              <a:t>[2] بدء تنظيف الغرفة بواسطة العامل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     عندما يدخل عامل النظافة للغرفة، ينقر الموظف البادج لتتحول إلى 🧼 جاري التنظيف.</a:t>
            </a:r>
          </a:p>
          <a:p>
            <a:br/>
            <a:pPr>
              <a:defRPr sz="1200" b="1">
                <a:solidFill>
                  <a:srgbClr val="3B82F6"/>
                </a:solidFill>
                <a:latin typeface="Arial"/>
              </a:defRPr>
            </a:pPr>
            <a:r>
              <a:t>[3] اكتمال النظافة والفحص (س 20)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     عند انتهاء التنظيف وتعطير الغرفة، ينقر الموظف لتتحول إلى ✨ جاهزة ونظيفة.</a:t>
            </a:r>
          </a:p>
          <a:p>
            <a:br/>
            <a:pPr>
              <a:defRPr sz="1200" b="1">
                <a:solidFill>
                  <a:srgbClr val="3B82F6"/>
                </a:solidFill>
                <a:latin typeface="Arial"/>
              </a:defRPr>
            </a:pPr>
            <a:r>
              <a:t>[4] لوحة النظافة في شاشة اليوم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     متابعة إحصائية الفلل والغرف الجاهزة والفلترة بنقرة زر واحدة من شريط النظافة العلوي.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852160"/>
            <a:ext cx="10728655" cy="685800"/>
          </a:xfrm>
          <a:prstGeom prst="roundRect">
            <a:avLst/>
          </a:prstGeom>
          <a:solidFill>
            <a:srgbClr val="0F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925312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C5A869"/>
                </a:solidFill>
                <a:latin typeface="Arial"/>
              </a:defRPr>
            </a:pPr>
            <a:r>
              <a:t>💡 قاعدة تشغيلية هامة للاستقبال: القاعدة الذهبية: لا تسكن أي ضيف في غرفة بادجها 🧹 أو 🧼؛ تأكد دائماً أنها ✨ جاهزة ونظيفة.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0" cy="320040"/>
          </a:xfrm>
          <a:prstGeom prst="roundRect">
            <a:avLst/>
          </a:prstGeom>
          <a:solidFill>
            <a:srgbClr val="FEFAF0"/>
          </a:solidFill>
          <a:ln w="9525">
            <a:solidFill>
              <a:srgbClr val="A38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A3864B"/>
                </a:solidFill>
                <a:latin typeface="Arial"/>
              </a:defRPr>
            </a:pPr>
            <a:r>
              <a:t>5️⃣ النظافة وإدارة المرافق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E36"/>
                </a:solidFill>
                <a:latin typeface="Arial"/>
              </a:defRPr>
            </a:pPr>
            <a:r>
              <a:t>حجز الفيلا كاملة مقابل الغرف التابعة لها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22860"/>
          </a:xfrm>
          <a:prstGeom prst="rect">
            <a:avLst/>
          </a:prstGeom>
          <a:solidFill>
            <a:srgbClr val="C5A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438912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0233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A3864B"/>
                </a:solidFill>
                <a:latin typeface="Arial"/>
              </a:defRPr>
            </a:pPr>
            <a:r>
              <a:t>السيناريو رقم 21</a:t>
            </a:r>
          </a:p>
          <a:p>
            <a:pPr>
              <a:defRPr sz="1400" b="1">
                <a:solidFill>
                  <a:srgbClr val="0F1E36"/>
                </a:solidFill>
                <a:latin typeface="Arial"/>
              </a:defRPr>
            </a:pPr>
            <a:r>
              <a:t>📌 الحالة الواقعية (Case Study):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طبيعة فلل نيو براتاما: بعض الفلل تُؤجر إما كفيلا كاملة (مثل Villa 16) أو كغرف مستقلة (Villa 16 - Kamar 1, 2, 3...).</a:t>
            </a:r>
          </a:p>
          <a:p>
            <a:br/>
            <a:pPr>
              <a:defRPr sz="1300" b="1">
                <a:solidFill>
                  <a:srgbClr val="0F1E36"/>
                </a:solidFill>
                <a:latin typeface="Arial"/>
              </a:defRPr>
            </a:pPr>
            <a:r>
              <a:t>⚙️ الأثر المالي والتشغيلي:</a:t>
            </a:r>
          </a:p>
          <a:p>
            <a:pPr>
              <a:defRPr sz="1050">
                <a:solidFill>
                  <a:srgbClr val="475569"/>
                </a:solidFill>
                <a:latin typeface="Arial"/>
              </a:defRPr>
            </a:pPr>
            <a:r>
              <a:t>حماية هندسية في قاعدة البيانات تمنع بيع الفيلا كاملة إذا كانت إحدى غرفها مسكونة، وتمنع بيع الغرف إذا كانت الفيلا كاملة محجوزة.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94960" y="1645920"/>
            <a:ext cx="603504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0" y="1828800"/>
            <a:ext cx="5486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E36"/>
                </a:solidFill>
                <a:latin typeface="Arial"/>
              </a:defRPr>
            </a:pPr>
            <a:r>
              <a:t>🛠️ خطوات التنفيذ في النظام خطوة بخطوة:</a:t>
            </a:r>
          </a:p>
          <a:p>
            <a:br/>
            <a:pPr>
              <a:defRPr sz="1200" b="1">
                <a:solidFill>
                  <a:srgbClr val="3B82F6"/>
                </a:solidFill>
                <a:latin typeface="Arial"/>
              </a:defRPr>
            </a:pPr>
            <a:r>
              <a:t>[1] حجز الفيلا بالكامل (Master Villa)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     إذا حجز النزيل الفيلا كاملة، يقوم النظام تلقائياً بإغلاق وحظر جميع غرفها التابعة في نفس التواريخ.</a:t>
            </a:r>
          </a:p>
          <a:p>
            <a:br/>
            <a:pPr>
              <a:defRPr sz="1200" b="1">
                <a:solidFill>
                  <a:srgbClr val="3B82F6"/>
                </a:solidFill>
                <a:latin typeface="Arial"/>
              </a:defRPr>
            </a:pPr>
            <a:r>
              <a:t>[2] حجز غرفة واحدة داخل الفيلا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     إذا حجز النزيل غرفة واحدة، يقوم النظام تلقائياً بحظر بيع الفيلا كاملة ككتلة واحدة في تلك التواريخ.</a:t>
            </a:r>
          </a:p>
          <a:p>
            <a:br/>
            <a:pPr>
              <a:defRPr sz="1200" b="1">
                <a:solidFill>
                  <a:srgbClr val="3B82F6"/>
                </a:solidFill>
                <a:latin typeface="Arial"/>
              </a:defRPr>
            </a:pPr>
            <a:r>
              <a:t>[3] إتاحة الغرف المتبقية فقط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     يسمح النظام فقط ببيع الغرف الأخرى الشاغرة داخل نفس الفيلا للنزلاء الآخرين.</a:t>
            </a:r>
          </a:p>
          <a:p>
            <a:br/>
            <a:pPr>
              <a:defRPr sz="1200" b="1">
                <a:solidFill>
                  <a:srgbClr val="3B82F6"/>
                </a:solidFill>
                <a:latin typeface="Arial"/>
              </a:defRPr>
            </a:pPr>
            <a:r>
              <a:t>[4] منع التضارب الحسابي والهندسي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     قاعدة البيانات تفحص التداخل بين الفيلا الرئيسية والغرف التابعة آلياً وتمنع أي خطأ بشري.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852160"/>
            <a:ext cx="10728655" cy="685800"/>
          </a:xfrm>
          <a:prstGeom prst="roundRect">
            <a:avLst/>
          </a:prstGeom>
          <a:solidFill>
            <a:srgbClr val="0F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925312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C5A869"/>
                </a:solidFill>
                <a:latin typeface="Arial"/>
              </a:defRPr>
            </a:pPr>
            <a:r>
              <a:t>💡 قاعدة تشغيلية هامة للاستقبال: النظام ذكي: يحميك تلقائياً من التعارض بين بيع الفيلا بالكامل أو بيعها كغرف مفرقة.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0" cy="320040"/>
          </a:xfrm>
          <a:prstGeom prst="roundRect">
            <a:avLst/>
          </a:prstGeom>
          <a:solidFill>
            <a:srgbClr val="FEFAF0"/>
          </a:solidFill>
          <a:ln w="9525">
            <a:solidFill>
              <a:srgbClr val="A38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A3864B"/>
                </a:solidFill>
                <a:latin typeface="Arial"/>
              </a:defRPr>
            </a:pPr>
            <a:r>
              <a:t>5️⃣ النظافة وإدارة المرافق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E36"/>
                </a:solidFill>
                <a:latin typeface="Arial"/>
              </a:defRPr>
            </a:pPr>
            <a:r>
              <a:t>إغلاقات الصيانة المجدولة وحظر البيع (Room Blocks)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22860"/>
          </a:xfrm>
          <a:prstGeom prst="rect">
            <a:avLst/>
          </a:prstGeom>
          <a:solidFill>
            <a:srgbClr val="C5A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438912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0233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A3864B"/>
                </a:solidFill>
                <a:latin typeface="Arial"/>
              </a:defRPr>
            </a:pPr>
            <a:r>
              <a:t>السيناريو رقم 22</a:t>
            </a:r>
          </a:p>
          <a:p>
            <a:pPr>
              <a:defRPr sz="1400" b="1">
                <a:solidFill>
                  <a:srgbClr val="0F1E36"/>
                </a:solidFill>
                <a:latin typeface="Arial"/>
              </a:defRPr>
            </a:pPr>
            <a:r>
              <a:t>📌 الحالة الواقعية (Case Study):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فيلا تحتاج صيانة مسبح أو غرفة تحتاج أعمال دهان وسباكة لمدة 3 أيام؛ يجب حظر بيعها على التقويم.</a:t>
            </a:r>
          </a:p>
          <a:p>
            <a:br/>
            <a:pPr>
              <a:defRPr sz="1300" b="1">
                <a:solidFill>
                  <a:srgbClr val="0F1E36"/>
                </a:solidFill>
                <a:latin typeface="Arial"/>
              </a:defRPr>
            </a:pPr>
            <a:r>
              <a:t>⚙️ الأثر المالي والتشغيلي:</a:t>
            </a:r>
          </a:p>
          <a:p>
            <a:pPr>
              <a:defRPr sz="1050">
                <a:solidFill>
                  <a:srgbClr val="475569"/>
                </a:solidFill>
                <a:latin typeface="Arial"/>
              </a:defRPr>
            </a:pPr>
            <a:r>
              <a:t>حماية الغرف المعطلة من البيع بالخطأ، واستثناؤها من حساب نسبة الإشغال الفعلية حتى لا تؤثر سلباً على أرقام الفندق.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94960" y="1645920"/>
            <a:ext cx="603504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0" y="1828800"/>
            <a:ext cx="5486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E36"/>
                </a:solidFill>
                <a:latin typeface="Arial"/>
              </a:defRPr>
            </a:pPr>
            <a:r>
              <a:t>🛠️ خطوات التنفيذ في النظام خطوة بخطوة:</a:t>
            </a:r>
          </a:p>
          <a:p>
            <a:br/>
            <a:pPr>
              <a:defRPr sz="1200" b="1">
                <a:solidFill>
                  <a:srgbClr val="3B82F6"/>
                </a:solidFill>
                <a:latin typeface="Arial"/>
              </a:defRPr>
            </a:pPr>
            <a:r>
              <a:t>[1] الدخول على إعدادات الصيانة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     من القائمة الجانبية يختار المدير «الإعدادات» ثم تبويب «إغلاقات الصيانة».</a:t>
            </a:r>
          </a:p>
          <a:p>
            <a:br/>
            <a:pPr>
              <a:defRPr sz="1200" b="1">
                <a:solidFill>
                  <a:srgbClr val="3B82F6"/>
                </a:solidFill>
                <a:latin typeface="Arial"/>
              </a:defRPr>
            </a:pPr>
            <a:r>
              <a:t>[2] إضافة إغلاق صيانة جديد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     الضغط على زر «إضافة إغلاق» وتحديد الوحدة المعطلة (فيلا أو غرفة).</a:t>
            </a:r>
          </a:p>
          <a:p>
            <a:br/>
            <a:pPr>
              <a:defRPr sz="1200" b="1">
                <a:solidFill>
                  <a:srgbClr val="3B82F6"/>
                </a:solidFill>
                <a:latin typeface="Arial"/>
              </a:defRPr>
            </a:pPr>
            <a:r>
              <a:t>[3] تحديد فترة الصيانة والسبب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     تحديد تاريخ البدء وتاريخ الانتهاء وكتابة سبب الصيانة (مثال: صيانة مسبح / دهان).</a:t>
            </a:r>
          </a:p>
          <a:p>
            <a:br/>
            <a:pPr>
              <a:defRPr sz="1200" b="1">
                <a:solidFill>
                  <a:srgbClr val="3B82F6"/>
                </a:solidFill>
                <a:latin typeface="Arial"/>
              </a:defRPr>
            </a:pPr>
            <a:r>
              <a:t>[4] حظر الوحدة من البيع آلياً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     تظهر الوحدة بلون رمادي مغلق على التقويم وتُحجب تلقائياً من قائمة الحجز وتُستثنى من حساب الإشغال.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852160"/>
            <a:ext cx="10728655" cy="685800"/>
          </a:xfrm>
          <a:prstGeom prst="roundRect">
            <a:avLst/>
          </a:prstGeom>
          <a:solidFill>
            <a:srgbClr val="0F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925312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C5A869"/>
                </a:solidFill>
                <a:latin typeface="Arial"/>
              </a:defRPr>
            </a:pPr>
            <a:r>
              <a:t>💡 قاعدة تشغيلية هامة للاستقبال: إغلاقات الصيانة هي من صلاحيات المدير فقط لحوكمة أسباب خروج الوحدات من الخدمة.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0" cy="320040"/>
          </a:xfrm>
          <a:prstGeom prst="roundRect">
            <a:avLst/>
          </a:prstGeom>
          <a:solidFill>
            <a:srgbClr val="FEFAF0"/>
          </a:solidFill>
          <a:ln w="9525">
            <a:solidFill>
              <a:srgbClr val="A38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A3864B"/>
                </a:solidFill>
                <a:latin typeface="Arial"/>
              </a:defRPr>
            </a:pPr>
            <a:r>
              <a:t>6️⃣ الرقابة والتدقيق المالي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E36"/>
                </a:solidFill>
                <a:latin typeface="Arial"/>
              </a:defRPr>
            </a:pPr>
            <a:r>
              <a:t>متابعة المتأخرات وحسم تأخر الخروج والدخول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22860"/>
          </a:xfrm>
          <a:prstGeom prst="rect">
            <a:avLst/>
          </a:prstGeom>
          <a:solidFill>
            <a:srgbClr val="C5A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438912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0233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A3864B"/>
                </a:solidFill>
                <a:latin typeface="Arial"/>
              </a:defRPr>
            </a:pPr>
            <a:r>
              <a:t>السيناريو رقم 23</a:t>
            </a:r>
          </a:p>
          <a:p>
            <a:pPr>
              <a:defRPr sz="1400" b="1">
                <a:solidFill>
                  <a:srgbClr val="0F1E36"/>
                </a:solidFill>
                <a:latin typeface="Arial"/>
              </a:defRPr>
            </a:pPr>
            <a:r>
              <a:t>📌 الحالة الواقعية (Case Study):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نزيل تجاوز موعد خروجه دون التنسيق مع الاستقبال، أو حجز مؤكد انتهى موعد وصوله ولم يحضر النزيل بعد.</a:t>
            </a:r>
          </a:p>
          <a:p>
            <a:br/>
            <a:pPr>
              <a:defRPr sz="1300" b="1">
                <a:solidFill>
                  <a:srgbClr val="0F1E36"/>
                </a:solidFill>
                <a:latin typeface="Arial"/>
              </a:defRPr>
            </a:pPr>
            <a:r>
              <a:t>⚙️ الأثر المالي والتشغيلي:</a:t>
            </a:r>
          </a:p>
          <a:p>
            <a:pPr>
              <a:defRPr sz="1050">
                <a:solidFill>
                  <a:srgbClr val="475569"/>
                </a:solidFill>
                <a:latin typeface="Arial"/>
              </a:defRPr>
            </a:pPr>
            <a:r>
              <a:t>منع بقاء النزلاء في الغرف مجاناً بعد انتهاء حجزهم، وضمان تجهيز الغرف في مواعيدها المحددة للنزلاء القادمين.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94960" y="1645920"/>
            <a:ext cx="603504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0" y="1828800"/>
            <a:ext cx="5486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E36"/>
                </a:solidFill>
                <a:latin typeface="Arial"/>
              </a:defRPr>
            </a:pPr>
            <a:r>
              <a:t>🛠️ خطوات التنفيذ في النظام خطوة بخطوة:</a:t>
            </a:r>
          </a:p>
          <a:p>
            <a:br/>
            <a:pPr>
              <a:defRPr sz="1200" b="1">
                <a:solidFill>
                  <a:srgbClr val="3B82F6"/>
                </a:solidFill>
                <a:latin typeface="Arial"/>
              </a:defRPr>
            </a:pPr>
            <a:r>
              <a:t>[1] شريط التنبيهات الأحمر العاجل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     يظهر شريط أحمر بارز أعلى شاشة اليوم: «تنبيهات تتطلب إجراءً (تأخر دخول أو مغادرة)».</a:t>
            </a:r>
          </a:p>
          <a:p>
            <a:br/>
            <a:pPr>
              <a:defRPr sz="1200" b="1">
                <a:solidFill>
                  <a:srgbClr val="3B82F6"/>
                </a:solidFill>
                <a:latin typeface="Arial"/>
              </a:defRPr>
            </a:pPr>
            <a:r>
              <a:t>[2] حالة تجاوز موعد المغادرة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     إذا كانت الحالة (تجاوز موعد المغادرة): يتصل الاستقبال بالنزيل فوراً لطلب الخروج أو عمل تمديد إقامة مدفوع.</a:t>
            </a:r>
          </a:p>
          <a:p>
            <a:br/>
            <a:pPr>
              <a:defRPr sz="1200" b="1">
                <a:solidFill>
                  <a:srgbClr val="3B82F6"/>
                </a:solidFill>
                <a:latin typeface="Arial"/>
              </a:defRPr>
            </a:pPr>
            <a:r>
              <a:t>[3] حالة التأخر عن تسجيل الدخول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     إذا كانت الحالة (لم يسجل الدخول بعد): يتواصل الاستقبال مع النزيل للتأكد من موعد قدومه أو تسجيل No-Show.</a:t>
            </a:r>
          </a:p>
          <a:p>
            <a:br/>
            <a:pPr>
              <a:defRPr sz="1200" b="1">
                <a:solidFill>
                  <a:srgbClr val="3B82F6"/>
                </a:solidFill>
                <a:latin typeface="Arial"/>
              </a:defRPr>
            </a:pPr>
            <a:r>
              <a:t>[4] حسم التنبيه بنقرة زر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     بمجرد عمل المغادرة أو التمديد، يختفي التنبيه الأحمر تلقائياً من الشاشة.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852160"/>
            <a:ext cx="10728655" cy="685800"/>
          </a:xfrm>
          <a:prstGeom prst="roundRect">
            <a:avLst/>
          </a:prstGeom>
          <a:solidFill>
            <a:srgbClr val="0F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925312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C5A869"/>
                </a:solidFill>
                <a:latin typeface="Arial"/>
              </a:defRPr>
            </a:pPr>
            <a:r>
              <a:t>💡 قاعدة تشغيلية هامة للاستقبال: راقب الشريط الأحمر أعلى شاشة اليوم أولاً بأول؛ أي اسم يظهر فيه يتطلب اتصالاً هاتفياً فورياً من الاستقبال.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0" cy="320040"/>
          </a:xfrm>
          <a:prstGeom prst="roundRect">
            <a:avLst/>
          </a:prstGeom>
          <a:solidFill>
            <a:srgbClr val="FEFAF0"/>
          </a:solidFill>
          <a:ln w="9525">
            <a:solidFill>
              <a:srgbClr val="A38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A3864B"/>
                </a:solidFill>
                <a:latin typeface="Arial"/>
              </a:defRPr>
            </a:pPr>
            <a:r>
              <a:t>6️⃣ الرقابة والتدقيق المالي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E36"/>
                </a:solidFill>
                <a:latin typeface="Arial"/>
              </a:defRPr>
            </a:pPr>
            <a:r>
              <a:t>تقفيل الصندوق وتوزيع المقبوضات وتصدير الإكسل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22860"/>
          </a:xfrm>
          <a:prstGeom prst="rect">
            <a:avLst/>
          </a:prstGeom>
          <a:solidFill>
            <a:srgbClr val="C5A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438912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0233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A3864B"/>
                </a:solidFill>
                <a:latin typeface="Arial"/>
              </a:defRPr>
            </a:pPr>
            <a:r>
              <a:t>السيناريو رقم 24</a:t>
            </a:r>
          </a:p>
          <a:p>
            <a:pPr>
              <a:defRPr sz="1400" b="1">
                <a:solidFill>
                  <a:srgbClr val="0F1E36"/>
                </a:solidFill>
                <a:latin typeface="Arial"/>
              </a:defRPr>
            </a:pPr>
            <a:r>
              <a:t>📌 الحالة الواقعية (Case Study):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نهاية الوردية اليومية وجرد النقدية الفعلي في الدرج مقارنة بما تم تحصيله بنكياً وعبر التطبيقات وتصدير تقرير المحاسبة.</a:t>
            </a:r>
          </a:p>
          <a:p>
            <a:br/>
            <a:pPr>
              <a:defRPr sz="1300" b="1">
                <a:solidFill>
                  <a:srgbClr val="0F1E36"/>
                </a:solidFill>
                <a:latin typeface="Arial"/>
              </a:defRPr>
            </a:pPr>
            <a:r>
              <a:t>⚙️ الأثر المالي والتشغيلي:</a:t>
            </a:r>
          </a:p>
          <a:p>
            <a:pPr>
              <a:defRPr sz="1050">
                <a:solidFill>
                  <a:srgbClr val="475569"/>
                </a:solidFill>
                <a:latin typeface="Arial"/>
              </a:defRPr>
            </a:pPr>
            <a:r>
              <a:t>جرد محاسبي يومي متطابق بنسبة 100%، وتوفير سجلات Excel مؤرشفة يومياً لخدمة التدقيق المالي والإدارة العليا.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94960" y="1645920"/>
            <a:ext cx="603504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0" y="1828800"/>
            <a:ext cx="5486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E36"/>
                </a:solidFill>
                <a:latin typeface="Arial"/>
              </a:defRPr>
            </a:pPr>
            <a:r>
              <a:t>🛠️ خطوات التنفيذ في النظام خطوة بخطوة:</a:t>
            </a:r>
          </a:p>
          <a:p>
            <a:br/>
            <a:pPr>
              <a:defRPr sz="1200" b="1">
                <a:solidFill>
                  <a:srgbClr val="3B82F6"/>
                </a:solidFill>
                <a:latin typeface="Arial"/>
              </a:defRPr>
            </a:pPr>
            <a:r>
              <a:t>[1] فحص كرت المقبوضات في لوحة المدير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     يظهر كرت المقبوضات اليومية موزعاً بدقة متناهية: (كاش 💵 | بنك 🏦 | تطبيقات 📱).</a:t>
            </a:r>
          </a:p>
          <a:p>
            <a:br/>
            <a:pPr>
              <a:defRPr sz="1200" b="1">
                <a:solidFill>
                  <a:srgbClr val="3B82F6"/>
                </a:solidFill>
                <a:latin typeface="Arial"/>
              </a:defRPr>
            </a:pPr>
            <a:r>
              <a:t>[2] مطابقة النقد الفعلي في الدرج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     مطابقة رقم المقبوضات النقدية (Cash) مع الكاش الفعلي الموجود في درج الاستقبال بالروبية.</a:t>
            </a:r>
          </a:p>
          <a:p>
            <a:br/>
            <a:pPr>
              <a:defRPr sz="1200" b="1">
                <a:solidFill>
                  <a:srgbClr val="3B82F6"/>
                </a:solidFill>
                <a:latin typeface="Arial"/>
              </a:defRPr>
            </a:pPr>
            <a:r>
              <a:t>[3] تصدير التقرير اليومي الشامل للإكسل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     الضغط على زر «📥 تصدير إلى Excel» لتنزيل ملف الفلاش اليومي المعتمد بنقرة واحدة.</a:t>
            </a:r>
          </a:p>
          <a:p>
            <a:br/>
            <a:pPr>
              <a:defRPr sz="1200" b="1">
                <a:solidFill>
                  <a:srgbClr val="3B82F6"/>
                </a:solidFill>
                <a:latin typeface="Arial"/>
              </a:defRPr>
            </a:pPr>
            <a:r>
              <a:t>[4] مشاركة التقرير مع الإدارة والمحاسب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     يحتوي ملف الإكسل على كافة تفاصيل الإشغال، الحجوزات، وأسماء النزلاء، وتوزيع الإيرادات.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852160"/>
            <a:ext cx="10728655" cy="685800"/>
          </a:xfrm>
          <a:prstGeom prst="roundRect">
            <a:avLst/>
          </a:prstGeom>
          <a:solidFill>
            <a:srgbClr val="0F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925312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C5A869"/>
                </a:solidFill>
                <a:latin typeface="Arial"/>
              </a:defRPr>
            </a:pPr>
            <a:r>
              <a:t>💡 قاعدة تشغيلية هامة للاستقبال: تصدير تقرير الإكسل ومطابقة كاش الدرج هو الإجراء الإلزامي الأخير قبل تسليم الوردية للموظف التالي.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A2F52"/>
          </a:solidFill>
          <a:ln w="25400">
            <a:solidFill>
              <a:srgbClr val="C5A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966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5A869"/>
                </a:solidFill>
                <a:latin typeface="Arial"/>
              </a:defRPr>
            </a:pPr>
            <a:r>
              <a:t>📋 القواعد الذهبية الست لموظف الاستقبال (Front Desk Golden SOP)</a:t>
            </a:r>
          </a:p>
          <a:p>
            <a:br/>
            <a:pPr>
              <a:defRPr sz="1250">
                <a:solidFill>
                  <a:srgbClr val="FFFFFF"/>
                </a:solidFill>
                <a:latin typeface="Arial"/>
              </a:defRPr>
            </a:pPr>
            <a:r>
              <a:t>1. حجوزات التطبيقات مسبقة الدفع (OTA): المتبقي المطلوب عند الكاونتر = 0. لا تطلب كاش إطلاقاً ولا تسجل دفعة كاش وهمية.</a:t>
            </a:r>
          </a:p>
          <a:p>
            <a:br/>
            <a:pPr>
              <a:defRPr sz="1250">
                <a:solidFill>
                  <a:srgbClr val="FFFFFF"/>
                </a:solidFill>
                <a:latin typeface="Arial"/>
              </a:defRPr>
            </a:pPr>
            <a:r>
              <a:t>2. معيار تسليم الغرفة للنظافة: لا تسكن أي ضيف في غرفة بادجها 🧹 أو 🧼؛ تأكد دائماً أنها ✨ جاهزة ونظيفة ومفحوصة.</a:t>
            </a:r>
          </a:p>
          <a:p>
            <a:br/>
            <a:pPr>
              <a:defRPr sz="1250">
                <a:solidFill>
                  <a:srgbClr val="FFFFFF"/>
                </a:solidFill>
                <a:latin typeface="Arial"/>
              </a:defRPr>
            </a:pPr>
            <a:r>
              <a:t>3. التحذير المالي عند المغادرة: إذا ظهر لك تنبيه المتبقي المالي الأحمر عند المغادرة، لا تضغط موافق حتى تحصيل المبلغ كاملاً.</a:t>
            </a:r>
          </a:p>
          <a:p>
            <a:br/>
            <a:pPr>
              <a:defRPr sz="1250">
                <a:solidFill>
                  <a:srgbClr val="FFFFFF"/>
                </a:solidFill>
                <a:latin typeface="Arial"/>
              </a:defRPr>
            </a:pPr>
            <a:r>
              <a:t>4. تمديد الإقامة الآمن: استخدم دائماً زر «⏱️ تمديد الإقامة» ليفحص النظام التوفر ويمنع حدوث حجز مزدوج لغيره.</a:t>
            </a:r>
          </a:p>
          <a:p>
            <a:br/>
            <a:pPr>
              <a:defRPr sz="1250">
                <a:solidFill>
                  <a:srgbClr val="FFFFFF"/>
                </a:solidFill>
                <a:latin typeface="Arial"/>
              </a:defRPr>
            </a:pPr>
            <a:r>
              <a:t>5. الخروج المبكر ونقل الغرف: استخدم أزرار النظام المخصصة لتسوية الحساب تلقائياً وتحرير الغرفة للبيع لغيره في نفس اليوم.</a:t>
            </a:r>
          </a:p>
          <a:p>
            <a:br/>
            <a:pPr>
              <a:defRPr sz="1250">
                <a:solidFill>
                  <a:srgbClr val="FFFFFF"/>
                </a:solidFill>
                <a:latin typeface="Arial"/>
              </a:defRPr>
            </a:pPr>
            <a:r>
              <a:t>6. جرد نهاية الوردية اليومية: طابق الكاش الفعلي في الدرج مع رقم المقبوضات النقدية وقم بتصدير تقرير الإكسل للإدارة فوراً.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463040"/>
            <a:ext cx="9418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C5A869"/>
                </a:solidFill>
                <a:latin typeface="Arial"/>
              </a:defRPr>
            </a:pPr>
            <a:r>
              <a:t>معاً نحو إدارة فندقية رائدة وضيافة استثنائية</a:t>
            </a:r>
          </a:p>
          <a:p>
            <a:br/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مجمع نيو براتاما الفندقي · بونشاك | ALMAGD Hospitality</a:t>
            </a:r>
          </a:p>
          <a:p>
            <a:br/>
            <a:pPr algn="ctr">
              <a:defRPr sz="1500" b="1">
                <a:solidFill>
                  <a:srgbClr val="93C5FD"/>
                </a:solidFill>
                <a:latin typeface="Arial"/>
              </a:defRPr>
            </a:pPr>
            <a:r>
              <a:t>رابط النظام الحي: https://almagd.pages.dev/admin</a:t>
            </a:r>
          </a:p>
          <a:p>
            <a:br/>
            <a:pPr algn="ctr">
              <a:defRPr sz="1300">
                <a:solidFill>
                  <a:srgbClr val="CBD5E1"/>
                </a:solidFill>
                <a:latin typeface="Arial"/>
              </a:defRPr>
            </a:pPr>
            <a:r>
              <a:t>بيانات الدخول المعتمدة للاستقبال والإدارة محفوظة في ملف CREDENTIALS.md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