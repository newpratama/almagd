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2F52"/>
          </a:solidFill>
          <a:ln w="25400">
            <a:solidFill>
              <a:srgbClr val="C5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almag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1051560"/>
            <a:ext cx="2743200" cy="953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14884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5A869"/>
                </a:solidFill>
                <a:latin typeface="Arial"/>
              </a:defRPr>
            </a:pPr>
            <a:r>
              <a:t>مجمع نيو براتاما الفندقي · بونشاك | ALMAGD Hospitality</a:t>
            </a:r>
          </a:p>
          <a:p>
            <a:pPr algn="ctr">
              <a:defRPr sz="3000" b="1">
                <a:solidFill>
                  <a:srgbClr val="FFFFFF"/>
                </a:solidFill>
                <a:latin typeface="Arial"/>
              </a:defRPr>
            </a:pPr>
            <a:r>
              <a:t>الدليل التشغيلي المصور لنظام إدارة العمليات الفندقية</a:t>
            </a:r>
          </a:p>
          <a:p>
            <a:pPr algn="ctr">
              <a:defRPr sz="1600">
                <a:solidFill>
                  <a:srgbClr val="CBD5E1"/>
                </a:solidFill>
                <a:latin typeface="Arial"/>
              </a:defRPr>
            </a:pPr>
            <a:r>
              <a:t>شرح عملي بالصور الحية من شاشات النظام لكافة السيناريوهات الـ 24 المعتمدة</a:t>
            </a:r>
          </a:p>
          <a:p>
            <a:br/>
            <a:pPr algn="ctr">
              <a:defRPr sz="1300" b="1">
                <a:solidFill>
                  <a:srgbClr val="C5A869"/>
                </a:solidFill>
                <a:latin typeface="Arial"/>
              </a:defRPr>
            </a:pPr>
            <a:r>
              <a:t>نظام إدارة الحجوزات PMS v1.0 | الرابط الحي: almagd.pages.dev/admin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ALMAGD PMS · مجمع نيو براتاما الفندقي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فهرس السيناريوهات التشغيلية (24 سيناريو في 6 أقسام)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55280" y="15544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691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1️⃣ دورة الحجز الأساسي</a:t>
            </a:r>
          </a:p>
          <a:p>
            <a:br/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الحجز المباشر، النزلاء السابقين، التسكين، المغادرة، تنبيه الرصيد المتبقي، وطباعة سندات القبض.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2️⃣ حجوزات المنصات (OTA)</a:t>
            </a:r>
          </a:p>
          <a:p>
            <a:br/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الحجوزات المدفوعة مسبقاً، جدولة الصرف البنكي، التحصيل عند الوصول، ومراجعة الأسعار.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3️⃣ العمليات أثناء الإقامة</a:t>
            </a:r>
          </a:p>
          <a:p>
            <a:br/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تمديد الإقامة، المغادرة المبكرة، نقل الغرف والترقية، وتجزئة السداد نقداً وبنكياً.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365760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7947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4️⃣ الإلغاء وعدم الحضور</a:t>
            </a:r>
          </a:p>
          <a:p>
            <a:br/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الإلغاء المجاني، الاسترداد الكامل، اقتطاع غرامة الفندق، ومصادرة العربون لعدم الحضور.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65760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7947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5️⃣ النظافة وإدارة المرافق</a:t>
            </a:r>
          </a:p>
          <a:p>
            <a:br/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التحول التلقائي للنظافة، دورة تنظيف الغرف، تفرع الفلل والغرف، وإغلاقات الصيانة.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474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6️⃣ الرقابة والتدقيق المالي</a:t>
            </a:r>
          </a:p>
          <a:p>
            <a:br/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شريط المتأخرات العاجل، إقفال الصندوق اليومي، وتصدير تقرير الإكسل المعتمد للمحاسبة.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تمت برمجة جميع هذه المسارات في النظام لتوفير الحماية المالية والتشغيلية الكاملة للمجمع.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ALMAGD PMS · مجمع نيو براتاما الفندقي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مصفوفة الصلاحيات والأدوار (Reception vs Manager)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9164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3B82F6"/>
                </a:solidFill>
                <a:latin typeface="Arial"/>
              </a:defRPr>
            </a:pPr>
            <a:r>
              <a:t>👤 موظف الاستقبال (Reception Pratama)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إنشاء الحجوزات المباشرة وتسكين النزلاء (Check-In)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تسجيل مغادرة النزيل (Check-Out) وطباعة إيصال القبض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تمديد الإقامة الآمن ونقل الغرف عند الأعطال والترقية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تسجيل الدفعات النقدية والتحويلات المستلمة من النزيل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تحديث دورة نظافة الغرف (تحتاج تنظيف 🧹 ⬅️ جاهزة ✨)</a:t>
            </a:r>
          </a:p>
          <a:p>
            <a:pPr algn="r">
              <a:defRPr sz="1050">
                <a:solidFill>
                  <a:srgbClr val="E11D48"/>
                </a:solidFill>
                <a:latin typeface="Arial"/>
              </a:defRPr>
            </a:pPr>
            <a:r>
              <a:t>❌ محجوب: لا يرى إجمالي كاش الصندوق أو التقارير الشهرية</a:t>
            </a:r>
          </a:p>
          <a:p>
            <a:pPr algn="r">
              <a:defRPr sz="1050">
                <a:solidFill>
                  <a:srgbClr val="E11D48"/>
                </a:solidFill>
                <a:latin typeface="Arial"/>
              </a:defRPr>
            </a:pPr>
            <a:r>
              <a:t>❌ محجوب: لا يستطيع تعديل أسعار الغرف أو حذف الحجوزات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A3864B"/>
                </a:solidFill>
                <a:latin typeface="Arial"/>
              </a:defRPr>
            </a:pPr>
            <a:r>
              <a:t>⭐ مدير الفندق (Manager Pratama)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كافة صلاحيات موظف الاستقبال مضافة إليها إدارة الفندق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الاطلاع على كشف المقبوضات وصندوق الدرج النقدي اليومي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مراجعة واعتماد الحجوزات المستوردة وشريط التدقيق الأصفر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تسعير الفلل والغرف وتعديل الأسعار الافتراضية للوحدات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جدولة إغلاقات الصيانة (Room Blocks) للفلل والمسابح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الاطلاع على تقارير الإشغال ومتوسط سعر الغرفة (ADR)</a:t>
            </a:r>
          </a:p>
          <a:p>
            <a:pPr algn="r">
              <a:defRPr sz="1050">
                <a:solidFill>
                  <a:srgbClr val="1E293B"/>
                </a:solidFill>
                <a:latin typeface="Arial"/>
              </a:defRPr>
            </a:pPr>
            <a:r>
              <a:t>✅ تصدير التقارير الرسمية إلى Excel وحذف الحجوزات الملغاة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صلاحيات الاستقبال مخصصة للعمليات اليومية؛ والمسائل المحاسبية والإلغاءات الكبرى من صلاحية المدير.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الأمان وتسجيل الدخول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بوابة الدخول الموحدة للوحة تحكم المجد (ALMAGD Portal)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أمان النظام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دخول الموظفين والمديرين عبر بوابة مؤمنة سحابياً بنظام التحقق المشفر بدون حفظ كلمات السر في المتصفح.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الوصول للرابط الرسمي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فتح الرابط المعتمد: almagd.pages.dev/admin/login عبر أي متصفح أو جهاز لوحي.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إدخال البريد الإلكتروني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كتابة البريد الوظيفي المعتمد للاستقبال أو الإدارة.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إدخال كلمة المرور المشفرة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كتابة كلمة المرور المعتمدة بدقة.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التحويل التلقائي للوحة العمليات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الضغط على «تسجيل الدخول»؛ يفتح النظام فوراً شاشة «اليوم» بالصلاحيات المخصصة.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بيانات الدخول محمية ومشفرة عبر Supabase Auth ولا تظهر كلمات السر في الكود البرمجي.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مركز العمليات الرئيسي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لوحة التحكم اليومية (Today Page) وشريط النظافة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شاشة التحكم الحية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الشاشة الأمامية اليومية لموظف الاستقبال لمتابعة الإشغال والقدوم والمغادرة وحالة النظافة الفورية.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متابعة بطاقات الإشغال الـ 4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قراءة فورية لنسبة الإشغال، وصول اليوم، مغادرة اليوم، والنزلاء المقيمون.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شريط النظافة الفوري (Housekeeping)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متابعة عدد الغرف النظيفة ✨، والتي جاري تنظيفها 🧼، والتي تحتاج تنظيف 🧹.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كشف القدوم والمغادرة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معرفة النزلاء القادمين لتجهيز مفاتيحهم، والمغادرين لمطابقة رصيدهم المالي.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فلترة الفلل والغرف المشغولة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البحث المباشر برقم الفيلا أو اسم الغرفة لمعرفة تفاصيل النزيل فوراً.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2_toda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شاشة اليوم تتحدث لحظياً عبر تقنية البث الحي (BroadcastChannel) دون الحاجة لعمل تحديث يدوي للمتصفح.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1️⃣ دورة الحجز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الحجز المباشر للنزلاء الجدد (Direct Walk-in)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1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📌 الحالة: ضيف يصل للاستقبال بدون حجز مسبق، أو يتواصل هاتفياً/واتساب ويريد الإقامة في فيلا أو غرفة مستقلة.</a:t>
            </a:r>
          </a:p>
          <a:p>
            <a:br/>
            <a:pPr algn="r">
              <a:defRPr sz="12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[1] فتح نموذج الحجز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الضغط على «الحجوزات» ثم «+ حجز جديد» في أعلى الشاشة.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[2] إدخال بيانات الضيف والتواريخ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كتابة اسم الضيف، رقم هاتفه، تاريخ الوصول وتاريخ المغادرة وعدد الليالي.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[3] اختيار الوحدة الشاغرة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يعرض النظام الوحدات المتاحة فعلياً فقط ويمنع بيع الغرف المشغولة لمنع التضارب.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[4] تسجيل الدفعة الأولى والحفظ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تحديد المصدر (Walk-in)، وإدخال المبلغ المقبوض كاش أو تحويل، ثم الضغط على «إنشاء الحجز».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4_new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كل حجز يتم حفظه يُقفل الغرفة لحظياً في قاعدة البيانات ولا مجال لحدوث أي تضارب.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1️⃣ دورة الحجز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حجز النزيل السابق والتعرف على وسام VIP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2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نزيل سبق له الإقامة في الفندق عاد للحجز مرة أخرى؛ النظام يحتفظ بملفه وهويته لتسريع عملية الاستقبال.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البحث السريع عن الضيف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كتابة أول حرفين من اسم الضيف أو رقم هاتفه في خانة «الضيف» داخل الحجز الجديد.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استدعاء الملف والوسام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تظهر قائمة بالنزلاء المطابقين فوراً مع إظهار وسام ⭐ VIP للنزلاء المتميزين.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اختيار الضيف بنقرة واحدة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تكتمل بيانات الهاتف والهوية تلقائياً دون الحاجة لإعادة كتابتها مرة أخرى.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إتمام الحجز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تحديد الوحدة المطلوبة والدفعة كالمعتاد وحفظ الحجز في ثوانٍ معدودة.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4_new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ربط الحجز بنفس ملف النزيل السابق لتتبع تاريخ إقاماته وسجل مدفوعاته وولائه للفندق.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1️⃣ دورة الحجز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دورة تسجيل الوصول (Check-in) والمغادرة (Check-out)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السيناريوهات 3 و 4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📌 الحالة: الوصول: نزيل وصل في موعده لاستلام الغرفة. المغادرة: نزيل انتهت إقامته وسدد حسابه ويريد تسليم المفتاح.</a:t>
            </a:r>
          </a:p>
          <a:p>
            <a:br/>
            <a:pPr algn="r">
              <a:defRPr sz="12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[1] فحص نظافة الغرفة أولاً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التأكد من أن بادج نظافة الغرفة يظهر ✨ جاهزة ونظيفة قبل تسليم المفتاح.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[2] تسجيل الوصول (Check-in)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ضغط زر «الوصول»؛ تتحول حالة الحجز فوراً إلى «مقيم» ويظهر في قائمة المقيمين اليوم.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[3] فحص الرصيد عند المغادرة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التأكد من أن الرصيد المتبقي = 0 (يظهر باللون الأخضر ✓ خالص).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[4] تسجيل المغادرة (Check-out)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ضغط زر «المغادرة»؛ تتحول الحالة إلى «غادر» وتتحول الغرفة فوراً إلى 🧹 تحتاج تنظيف.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7_booking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لا تسلم المفتاح للنزيل إطلاقاً إلا إذا كان بادج نظافة الغرفة يظهر ✨ جاهزة ونظيفة.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1️⃣ دورة الحجز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التحذير من المتبقي المالي ومنع خروج النزيل المدين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5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نزيل يحاول تسجيل المغادرة وتسليم المفتاح ولا زال في ذمته متبقي مالي لم يسدده (مثال: باقي 450 ألف).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محاولة الضغط على مغادرة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يضغط الموظف على زر «تسجيل المغادرة» كالمعتاد.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ظهور التنبيه التحذيري الأحمر ⚠️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يعترض النظام العملية ويفتح نافذة تحذيرية: (⚠️ هذا الحجز عليه متبقي قدره X روبية).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تحصيل المبلغ من النزيل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يطلب الموظف من النزيل سداد المبلغ المتبقي نقداً أو عبر التحويل البنكي.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تسجيل الدفعة وإتمام الخروج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يضغط الموظف «إضافة دفعة» ويسجل المبلغ؛ فيصبح الرصيد 0 خالص، وتتم المغادرة بأمان.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7_booking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تنبيه المتبقي المالي يحمي إيرادات الفندق من الضياع؛ لا تؤكد المغادرة قبل استلام الكاش.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1️⃣ دورة الحجز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إصدار وطباعة إيصال تأكيد الحجز وسند القبض الرسمي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6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النزيل يطلب إثبات سداد رسمي أو سند قبض معتمد لإرفاقه لشركته أو لحفظ حقوقه المالية.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الدخول على تفاصيل الحجز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فتح صفحة الحجز المطلوبة من جدول الحجوزات أو شاشة اليوم.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معاينة السند الرسمي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ضغط زر «👁️ معاينة الإيصال» لمراجعة التواريخ والدفعات والمتبقي.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أمر الطباعة المباشر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ضغط زر «🖨️ طباعة الإيصال»؛ يفتح النظام نافذة الطباعة الرسمية المجهزة فوراً.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الحفظ كـ PDF أو الطباعة الورقية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تنسيق مبرمج يتجاهل أزرار الشاشة ويطبع فقط السند المروّس باسم مجمع نيو براتاما.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12_receip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سند قانوني ومالي رسمي معتمد للمحاسبة يثبت استلام المبالغ وتفاصيل الليالي وقنوات السداد.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2️⃣ حجوزات المنصات (OTA)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حجوزات التطبيقات المسددة إلكترونياً (OTA Prepaid)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7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حجز قادم عبر منصة Tiket.com أو Booking.com أو Agoda حيث دفع النزيل بالبطاقة مسبقاً على التطبيق.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التعرف على بادج المنصة الأزرق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يظهر الحجز في النظام بالبادج الأزرق المميز: «📱 مدفوع بالتطبيق · استحقاق الوصول».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التحقق من الرصيد المطلوب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المتبقي المطلوب تحصيله من النزيل عند الاستقبال هو 0 روبية (خالص تماماً للإقامة).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استقبال النزيل دون طلب أموال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يتم الترحيب بالنزيل وتسجيل وصوله دون مطالبته بأي رسوم إقامة لأنه دفع للمنصة مسبقاً.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منع تسجيل كاش وهمي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يُمنع منعاً باتاً إدخال دفعة نقدية في النظام لهذا الحجز لأن الأموال ستصل عبر الحساب البنكي.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13_ota_booking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القاعدة الذهبية: حجز التطبيق بالبادج الأزرق = لا تطلب كاش من النزيل إطلاقاً.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2️⃣ حجوزات المنصات (OTA)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الحجوزات المستقبلية وجدولة التحويلات البنكية للمنصات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8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📌 الحالة: حجز مؤكد من تطبيق إلكتروني وصل للنظام اليوم، لكن موعد قدوم النزيل الفعلي بعد أسبوع أو أسبوعين.</a:t>
            </a:r>
          </a:p>
          <a:p>
            <a:br/>
            <a:pPr algn="r">
              <a:defRPr sz="12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[1] فهم سياسة تحويلات المنصات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المنصة (مثل Booking أو Tiket) تحتجز الأموال ولا تحولها لحساب الفندق إلا في تاريخ وصول النزيل.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[2] قراءة مؤشر المدة في النظام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يُظهر النظام الحجز مع توضيح المدة الزمنية المتبقية: (⏳ بعد أسبوعين تقريباً).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[3] توضيح طبيعة المبلغ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يوضح النظام بجانب المبلغ: «استحقاق بنكي عند الوصول» ليعلم المحاسب موعد دخول السيولة.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[4] حماية كاش اليومية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لا يتم إدراج هذا المبلغ في كاش اليوم حتى لا يختل جرد الدرج اليومي لموظف الاستقبال.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13_ota_booking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الحجوزات المستقبلية تحجز الغرفة فوراً، لكن أموالها تنزل في الحساب البنكي يوم وصول النزيل.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3️⃣ العمليات أثناء الإقامة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تمديد فترة الإقامة لنزيل ساكن والفحص الآلي للتوفر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11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نزيل مقيم حالياً ويرغب بتمديد إقامته ليلة أو ليلتين إضافيتين دون الحاجة لعمل حجز جديد مكرر.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الضغط على زر تمديد الإقامة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من صفحة الحجز، يضغط الموظف على الزر المخصص: «⏱️ تمديد الإقامة».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اختيار عدد الليالي السريعة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تظهر أزرار سريعة: (+1 ليلة، +2 ليالٍ، +3 ليالٍ، +أسبوع) أو اختيار تاريخ مغادرة جديد.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الفحص التلقائي للشغور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يفحص النظام توفر الوحدة في الأيام الممتدة؛ إذا كانت شاغرة تظهر رسالة خضراء ✨ الوحدة شاغرة ومتاحة.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حساب السعر الإضافي وتأكيد التمديد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يحسب النظام السعر الإضافي المقترح آلياً ويضيفه على الرصيد، وبضغطة واحدة يتحدث التقويم.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8_extend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استخدم دائماً زر «تمديد الإقامة» لأنه يفحص التوفر التلقائي ويمنع تضارب الحجوزات.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3️⃣ العمليات أثناء الإقامة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المغادرة المبكرة وإعادة احتساب الحساب والاسترداد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12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نزيل حجز 5 ليالٍ ودفع مقدماً، لكن لظرف طارئ اضطر للمغادرة بعد ليلتين فقط ويريد تسوية حسابه فوراً.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الضغط على زر مغادرة مبكرة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من صفحة الحجز المقيم، يضغط الموظف زر «🚪🏃‍♂️ مغادرة مبكرة».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احتساب الليالي الفعلية تلقائياً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يحدد النظام تاريخ اليوم كتاريخ مغادرة فعلي ويحسب عدد الليالي المسكونة (ليلتين).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اختيار سياسة التسوية المالية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1. إعادة احتساب الحساب حسب الليالي الفعلية (موصى به) ويظهر فوراً المبلغ المستحق استرداده للنزيل.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تسجيل سند الاسترداد وإخلاء الغرفة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تفعيل خيار: (تسجيل تسليم المبلغ المسترد للنزيل كاش الآن)؛ فيتم الخروج وتحرير الغرفة للبيع فوراً.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10_early_checkou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المغادرة المبكرة تتيح للفندق إعادة بيع الغرفة في نفس الليلة لضيف آخر بدلاً من بقائها معلقة.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3️⃣ العمليات أثناء الإقامة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نقل النزيل لغرفة أخرى وترقية الوحدات أثناء السكن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13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حدث عطل فني في الغرفة (تكييف/سباكة)، أو طلب النزيل ترقية إقامته من غرفة مستقلة إلى فيلا كاملة بمسبح.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الضغط على زر نقل الوحدة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من صفحة الحجز، يضغط الموظف زر «🔄 نقل الوحدة».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عرض البدائل الشاغرة فقط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يعرض النظام قائمة منسدلة بالوحدات المتاحة فعلياً فقط في التواريخ المتبقية لنفس الحجز.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اختيار سياسة التسعير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الاحتفاظ بنفس السعر السابق (مجاناً كتعويض عن العطل)، أو تعديل السعر حسب الوحدة الجديدة (ترقية مدفوعة).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تسجيل سبب النقل والتأكيد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اختيار سبب النقل (صيانة وعطل فني / ترقية Upgrade / طلب النزيل) ثم الضغط على تأكيد النقل.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9_transfer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نقل الوحدة يحافظ على سجل الدفعات السابقة بالكامل ويوثق سبب النقل في الملاحظات.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3️⃣ العمليات أثناء الإقامة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تجزئة السداد وتعدد طرق الدفع كاش وبنكياً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14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📌 الحالة: حجز بقيمة 3 ملايين روبية، النزيل دفع مليون عربون بالتحويل البنكي، ومليون كاش عند الوصول، ومليون كاش عند المغادرة.</a:t>
            </a:r>
          </a:p>
          <a:p>
            <a:br/>
            <a:pPr algn="r">
              <a:defRPr sz="12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[1] تسجيل الدفعة الأولى (عربون بنكي)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تسجيل دفعة بقيمة 1.000.000 بطريقة (تحويل بنكي Transfer) مع كتابة رقم المرجع البنكي.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[2] تسجيل الدفعة الثانية (كاش عند الدخول)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عند تسجيل الوصول يضغط الموظف «إضافة دفعة» ويسجل 1.000.000 بطريقة (نقداً Cash).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[3] تسجيل الدفعة الثالثة (تصفية الحساب)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قبل المغادرة يضغط الموظف «إضافة دفعة» ويسجل المليون الأخير ليصبح الرصيد 0 خالص.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[4] طباعة الإيصال النهائي المجمع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استخراج إيصال تأكيد الحجز المحدث الذي يظهر كل دفعة بتاريخها وطريقتها واسم الموظف المستلم.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12_receip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سجل كل دفعة فور استلامها مباشرة داخل الحجز؛ تأجيل التسجيل هو السبب الأول لحدوث العجز المالي.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4️⃣ الإلغاء وعدم الحضور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الإلغاء مع اقتطاع غرامة فندقية رسمية وتسوية المبالغ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السيناريوهات 15 و 16 و 17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نزيل دفع مليون روبية وألغى متأخراً؛ وسياسة الفندق تقتضي خصم ليلة واحدة (400 ألف) كغرامة وإرجاع الباقي.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الضغط على زر إلغاء الحجز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فتح صفحة الحجز وضغط زر «إلغاء الحجز».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اختيار سياسة خصم غرامة فندقية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اختيار: «خصم غرامة إلغاء / رسوم إدارية (Partial Penalty)».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إدخال مبلغ الغرامة المستقطع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كتابة مبلغ غرامة الفندق (مثال: 400.000)؛ فيحسب النظام آلياً: المستحق إرجاعه للنزيل = 600.000.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تعديل قيمة الحجز واعتماد الإيراد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يعدل النظام إجمالي الحجز ليصبح 400 ألف فقط (ليدخل في أرباح الفندق الرسمية) ويسجل استرداد 600 ألف للنزيل.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11_cancel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الغرامة الفندقية هي إيراد رسمي للفندق؛ والنظام يضمن إدراجها ضمن دخل الفندق المحاسبي بدقة.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4️⃣ الإلغاء وعدم الحضور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تسجيل عدم حضور النزيل ومصادرة العربون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18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📌 الحالة: النزيل حجز ودفع عربوناً وانقضى موعد وصوله ولم يحضر ولم يتواصل مع الفندق إطلاقاً.</a:t>
            </a:r>
          </a:p>
          <a:p>
            <a:br/>
            <a:pPr algn="r">
              <a:defRPr sz="12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[1] الضغط على زر لم يحضر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من صفحة الحجز المؤكد، يضغط الموظف على زر «لم يحضر (No-Show)».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[2] اختيار مصادرة كامل المبلغ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اختيار سياسة: «مصادرة كامل المبلغ / غير قابل للاسترداد (Denda 100%)».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[3] اعتماد الغرامة بالكامل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يعتمد النظام كامل المبلغ المدفوع كإيراد غرامة عدم حضور رسمية للفندق (المستحق للنزيل = 0).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[4] تحرير الغرفة للبيع الفوري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تتحول حالة الحجز لـ «لم يحضر» بالوسام الأصفر، وتتحرر الغرفة فوراً في التقويم لتباع لنزيل جديد.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11_cancel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تسجيل No-Show يحفظ حق الفندق المالي ويسمح لك ببيع الغرفة فوراً لأي نزيل Walk-in في نفس الليلة.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5️⃣ النظافة وإدارة المرافق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نظام متابعة نظافة الغرف والفلل الفوري (Housekeeping)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السيناريوهات 19 و 20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متابعة دورة نظافة الغرف والفلل لمنع تسليم أي غرفة غير نظيفة أو تأخير تسكين النزلاء القادمين.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التحول التلقائي بعد المغادرة (س 19)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بمجرد ضغط الموظف على «تسجيل المغادرة»، تتحول حالة الغرفة فوراً إلى 🧹 تحتاج تنظيف.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بدء تنظيف الغرفة بواسطة العامل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عندما يدخل عامل النظافة للغرفة، ينقر الموظف البادج لتتحول إلى 🧼 جاري التنظيف.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اكتمال النظافة والفحص (س 20)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عند انتهاء التنظيف وتعطير الغرفة، ينقر الموظف لتتحول إلى ✨ جاهزة ونظيفة.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لوحة النظافة في شاشة اليوم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متابعة إحصائية الفلل والغرف الجاهزة والفلترة بنقرة زر واحدة من شريط النظافة العلوي.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2_toda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القاعدة الذهبية: لا تسكن أي ضيف في غرفة بادجها 🧹 أو 🧼؛ تأكد دائماً أنها ✨ جاهزة ونظيفة.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5️⃣ النظافة وإدارة المرافق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حجز الفيلا كاملة مقابل الغرف التابعة لها في التقويم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21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طبيعة فلل نيو براتاما: بعض الفلل تُؤجر إما كفيلا كاملة (مثل Villa 16) أو كغرف مستقلة (Villa 16 - Kamar 1, 2, 3...).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حجز الفيلا بالكامل (Master Villa)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إذا حجز النزيل الفيلا كاملة، يقوم النظام تلقائياً بإغلاق وحظر جميع غرفها التابعة في نفس التواريخ.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حجز غرفة واحدة داخل الفيلا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إذا حجز النزيل غرفة واحدة، يقوم النظام تلقائياً بحظر بيع الفيلا كاملة ككتلة واحدة في تلك التواريخ.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إتاحة الغرف المتبقية فقط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يسمح النظام فقط ببيع الغرف الأخرى الشاغرة داخل نفس الفيلا للنزلاء الآخرين.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عرض التقويم التفاعلي بـ 96 وحدة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إمكانية طي وتوسيع غرف الفلل في التقويم لمتابعة الإشغال بنظرة بانورامية واحدة.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5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نظام الغرف المتشعبة يضمن عدم حدوث أي تضارب بين تأجير الفيلا كاملة أو مفرقة.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5️⃣ النظافة وإدارة المرافق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إغلاقات الصيانة المجدولة وحظر البيع (Room Blocks)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22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📌 الحالة: فيلا تحتاج صيانة مسبح أو غرفة تحتاج أعمال دهان وسباكة لمدة 3 أيام؛ يجب حظر بيعها على التقويم.</a:t>
            </a:r>
          </a:p>
          <a:p>
            <a:br/>
            <a:pPr algn="r">
              <a:defRPr sz="12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[1] الدخول على إعدادات الصيانة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من القائمة الجانبية يختار المدير «الإعدادات» ثم تبويب «إغلاقات الصيانة».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[2] إضافة إغلاق صيانة جديد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الضغط على زر «إضافة إغلاق» وتحديد الوحدة المعطلة (فيلا أو غرفة).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[3] تحديد فترة الصيانة والسبب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تحديد تاريخ البدء وتاريخ الانتهاء وكتابة سبب الصيانة (مثال: صيانة مسبح / دهان).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[4] حظر الوحدة من البيع آلياً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تظهر الوحدة بلون رمادي مغلق على التقويم وتُحجب تلقائياً من قائمة الحجز وتُستثنى من حساب الإشغال.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5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إغلاقات الصيانة هي من صلاحيات المدير فقط لحوكمة أسباب خروج الوحدات من الخدمة.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6️⃣ الرقابة والتدقيق المالي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متابعة المتأخرات وحسم تأخر الخروج والدخول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23</a:t>
            </a:r>
          </a:p>
          <a:p>
            <a:pPr algn="r">
              <a:defRPr sz="1000">
                <a:solidFill>
                  <a:srgbClr val="1E293B"/>
                </a:solidFill>
                <a:latin typeface="Arial"/>
              </a:defRPr>
            </a:pPr>
            <a:r>
              <a:t>📌 الحالة: نزيل تجاوز موعد خروجه دون التنسيق مع الاستقبال، أو حجز مؤكد انتهى موعد وصوله ولم يحضر النزيل بعد.</a:t>
            </a:r>
          </a:p>
          <a:p>
            <a:br/>
            <a:pPr algn="r">
              <a:defRPr sz="12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[1] شريط التنبيهات الأحمر العاجل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يظهر شريط أحمر بارز أعلى شاشة اليوم: «تنبيهات تتطلب إجراءً (تأخر دخول أو مغادرة)».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[2] حالة تجاوز موعد المغادرة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إذا كانت الحالة (تجاوز موعد المغادرة): يتصل الاستقبال بالنزيل فوراً لطلب الخروج أو عمل تمديد إقامة مدفوع.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[3] حالة التأخر عن تسجيل الدخول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إذا كانت الحالة (لم يسجل الدخول بعد): يتواصل الاستقبال مع النزيل للتأكد من موعد قدومه أو تسجيل No-Show.</a:t>
            </a:r>
          </a:p>
          <a:p>
            <a:pPr algn="r">
              <a:defRPr sz="1050" b="1">
                <a:solidFill>
                  <a:srgbClr val="3B82F6"/>
                </a:solidFill>
                <a:latin typeface="Arial"/>
              </a:defRPr>
            </a:pPr>
            <a:r>
              <a:t>[4] حسم التنبيه بنقرة زر</a:t>
            </a:r>
          </a:p>
          <a:p>
            <a:pPr algn="r">
              <a:defRPr sz="950">
                <a:solidFill>
                  <a:srgbClr val="475569"/>
                </a:solidFill>
                <a:latin typeface="Arial"/>
              </a:defRPr>
            </a:pPr>
            <a:r>
              <a:t>     بمجرد عمل المغادرة أو التمديد، يختفي التنبيه الأحمر تلقائياً من الشاشة.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2_toda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راقب الشريط الأحمر أعلى شاشة اليوم أولاً بأول؛ أي اسم يظهر فيه يتطلب اتصالاً هاتفياً فورياً من الاستقبال.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FEFAF0"/>
          </a:solidFill>
          <a:ln w="9525">
            <a:solidFill>
              <a:srgbClr val="A3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3864B"/>
                </a:solidFill>
                <a:latin typeface="Arial"/>
              </a:defRPr>
            </a:pPr>
            <a:r>
              <a:t>6️⃣ الرقابة والتدقيق المالي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0F1E36"/>
                </a:solidFill>
                <a:latin typeface="Arial"/>
              </a:defRPr>
            </a:pPr>
            <a:r>
              <a:t>تقفيل الصندوق وتوزيع المقبوضات وتصدير الإكسل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22860"/>
          </a:xfrm>
          <a:prstGeom prst="rect">
            <a:avLst/>
          </a:prstGeom>
          <a:solidFill>
            <a:srgbClr val="C5A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A3864B"/>
                </a:solidFill>
                <a:latin typeface="Arial"/>
              </a:defRPr>
            </a:pPr>
            <a:r>
              <a:t>السيناريو رقم 24</a:t>
            </a:r>
          </a:p>
          <a:p>
            <a:pPr algn="r">
              <a:defRPr sz="1100">
                <a:solidFill>
                  <a:srgbClr val="1E293B"/>
                </a:solidFill>
                <a:latin typeface="Arial"/>
              </a:defRPr>
            </a:pPr>
            <a:r>
              <a:t>📌 الحالة: نهاية الوردية اليومية وجرد النقدية الفعلي في الدرج مقارنة بما تم تحصيله بنكياً وعبر التطبيقات وتصدير تقرير المحاسبة.</a:t>
            </a:r>
          </a:p>
          <a:p>
            <a:br/>
            <a:pPr algn="r">
              <a:defRPr sz="1300" b="1">
                <a:solidFill>
                  <a:srgbClr val="0F1E36"/>
                </a:solidFill>
                <a:latin typeface="Arial"/>
              </a:defRPr>
            </a:pPr>
            <a:r>
              <a:t>🛠️ خطوات التنفيذ في النظام: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[1] فحص كرت المقبوضات في لوحة المدير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يظهر كرت المقبوضات اليومية موزعاً بدقة: (كاش 💵 | بنك 🏦 | تطبيقات 📱).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[2] مطابقة النقد الفعلي في الدرج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مطابقة رقم المقبوضات النقدية (Cash) مع الكاش الفعلي في درج الاستقبال بالروبية.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[3] تصدير التقرير اليومي الشامل للإكسل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الضغط على زر «📥 تصدير إلى Excel» لتنزيل ملف الفلاش اليومي المعتمد بنقرة واحدة.</a:t>
            </a:r>
          </a:p>
          <a:p>
            <a:pPr algn="r">
              <a:defRPr sz="1100" b="1">
                <a:solidFill>
                  <a:srgbClr val="3B82F6"/>
                </a:solidFill>
                <a:latin typeface="Arial"/>
              </a:defRPr>
            </a:pPr>
            <a:r>
              <a:t>[4] مشاركة التقرير مع الإدارة والمحاسب</a:t>
            </a:r>
          </a:p>
          <a:p>
            <a:pPr algn="r">
              <a:defRPr sz="1000">
                <a:solidFill>
                  <a:srgbClr val="475569"/>
                </a:solidFill>
                <a:latin typeface="Arial"/>
              </a:defRPr>
            </a:pPr>
            <a:r>
              <a:t>     يحتوي ملف الإكسل على كافة تفاصيل الإشغال، الحجوزات، وأسماء النزلاء، وتوزيع الإيرادات.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📱 صورة حية من شاشة النظام (Live System Screen)</a:t>
            </a:r>
          </a:p>
        </p:txBody>
      </p:sp>
      <p:pic>
        <p:nvPicPr>
          <p:cNvPr id="10" name="Picture 9" descr="shot_06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029200" cy="3657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C5A869"/>
                </a:solidFill>
                <a:latin typeface="Arial"/>
              </a:defRPr>
            </a:pPr>
            <a:r>
              <a:t>💡 قاعدة تشغيلية هامة للاستقبال: تصدير تقرير الإكسل ومطابقة كاش الدرج هو الإجراء الإلزامي الأخير قبل تسليم الوردية.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2F52"/>
          </a:solidFill>
          <a:ln w="25400">
            <a:solidFill>
              <a:srgbClr val="C5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5A869"/>
                </a:solidFill>
                <a:latin typeface="Arial"/>
              </a:defRPr>
            </a:pPr>
            <a:r>
              <a:t>📋 القواعد الذهبية الست لموظف الاستقبال (Front Desk Golden SOP)</a:t>
            </a:r>
          </a:p>
          <a:p>
            <a:br/>
            <a:pPr algn="r">
              <a:defRPr sz="1200">
                <a:solidFill>
                  <a:srgbClr val="FFFFFF"/>
                </a:solidFill>
                <a:latin typeface="Arial"/>
              </a:defRPr>
            </a:pPr>
            <a:r>
              <a:t>1. حجوزات التطبيقات مسبقة الدفع (OTA): المتبقي المطلوب عند الكاونتر = 0. لا تطلب كاش إطلاقاً ولا تسجل دفعة كاش وهمية.</a:t>
            </a:r>
          </a:p>
          <a:p>
            <a:br/>
            <a:pPr algn="r">
              <a:defRPr sz="1200">
                <a:solidFill>
                  <a:srgbClr val="FFFFFF"/>
                </a:solidFill>
                <a:latin typeface="Arial"/>
              </a:defRPr>
            </a:pPr>
            <a:r>
              <a:t>2. معيار تسليم الغرفة للنظافة: لا تسكن أي ضيف في غرفة بادجها 🧹 أو 🧼؛ تأكد دائماً أنها ✨ جاهزة ونظيفة ومفحوصة.</a:t>
            </a:r>
          </a:p>
          <a:p>
            <a:br/>
            <a:pPr algn="r">
              <a:defRPr sz="1200">
                <a:solidFill>
                  <a:srgbClr val="FFFFFF"/>
                </a:solidFill>
                <a:latin typeface="Arial"/>
              </a:defRPr>
            </a:pPr>
            <a:r>
              <a:t>3. التحذير المالي عند المغادرة: إذا ظهر لك تنبيه المتبقي المالي الأحمر عند المغادرة، لا تضغط موافق حتى تحصيل المبلغ كاملاً.</a:t>
            </a:r>
          </a:p>
          <a:p>
            <a:br/>
            <a:pPr algn="r">
              <a:defRPr sz="1200">
                <a:solidFill>
                  <a:srgbClr val="FFFFFF"/>
                </a:solidFill>
                <a:latin typeface="Arial"/>
              </a:defRPr>
            </a:pPr>
            <a:r>
              <a:t>4. تمديد الإقامة الآمن: استخدم دائماً زر «⏱️ تمديد الإقامة» ليفحص النظام التوفر ويمنع حدوث حجز مزدوج لغيره.</a:t>
            </a:r>
          </a:p>
          <a:p>
            <a:br/>
            <a:pPr algn="r">
              <a:defRPr sz="1200">
                <a:solidFill>
                  <a:srgbClr val="FFFFFF"/>
                </a:solidFill>
                <a:latin typeface="Arial"/>
              </a:defRPr>
            </a:pPr>
            <a:r>
              <a:t>5. الخروج المبكر ونقل الغرف: استخدم أزرار النظام المخصصة لتسوية الحساب تلقائياً وتحرير الغرفة للبيع لغيره في نفس اليوم.</a:t>
            </a:r>
          </a:p>
          <a:p>
            <a:br/>
            <a:pPr algn="r">
              <a:defRPr sz="1200">
                <a:solidFill>
                  <a:srgbClr val="FFFFFF"/>
                </a:solidFill>
                <a:latin typeface="Arial"/>
              </a:defRPr>
            </a:pPr>
            <a:r>
              <a:t>6. جرد نهاية الوردية اليومية: طابق الكاش الفعلي في الدرج مع رقم المقبوضات النقدية وقم بتصدير تقرير الإكسل للإدارة فوراً.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A2F52"/>
          </a:solidFill>
          <a:ln w="25400">
            <a:solidFill>
              <a:srgbClr val="C5A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almag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1051560"/>
            <a:ext cx="2743200" cy="953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19456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5A869"/>
                </a:solidFill>
                <a:latin typeface="Arial"/>
              </a:defRPr>
            </a:pPr>
            <a:r>
              <a:t>معاً نحو إدارة فندقية رائدة وضيافة استثنائية</a:t>
            </a:r>
          </a:p>
          <a:p>
            <a:br/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مجمع نيو براتاما الفندقي · بونشاك | ALMAGD Hospitality</a:t>
            </a:r>
          </a:p>
          <a:p>
            <a:br/>
            <a:pPr algn="ctr">
              <a:defRPr sz="1500" b="1">
                <a:solidFill>
                  <a:srgbClr val="93C5FD"/>
                </a:solidFill>
                <a:latin typeface="Arial"/>
              </a:defRPr>
            </a:pPr>
            <a:r>
              <a:t>رابط النظام الحي: https://almagd.pages.dev/admin</a:t>
            </a:r>
          </a:p>
          <a:p>
            <a:br/>
            <a:pPr algn="ctr">
              <a:defRPr sz="1300">
                <a:solidFill>
                  <a:srgbClr val="CBD5E1"/>
                </a:solidFill>
                <a:latin typeface="Arial"/>
              </a:defRPr>
            </a:pPr>
            <a:r>
              <a:t>بيانات الدخول المعتمدة للاستقبال والإدارة محفوظة في ملف CREDENTIALS.md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